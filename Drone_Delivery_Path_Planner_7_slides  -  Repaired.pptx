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20" autoAdjust="0"/>
    <p:restoredTop sz="94610"/>
  </p:normalViewPr>
  <p:slideViewPr>
    <p:cSldViewPr snapToGrid="0" snapToObjects="1">
      <p:cViewPr>
        <p:scale>
          <a:sx n="128" d="100"/>
          <a:sy n="128" d="100"/>
        </p:scale>
        <p:origin x="91"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980471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plans drone deliveries under distance, battery and priority limits. Any route that exceeds the battery budget is rejected, and every decision is shown to the user. [Image: drone silhouette over a night city grid]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drone, one depot, several deliveries, three constraints. Over-budget routes are rejected rather than flown. Real uses include medical supplies, e-commerce and disaster relief. [Image: city map with depot hexagon and 5 drop points]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React and Leaflet front end calls a Flask API, which runs the algorithm engine and returns a JSON result the map draws. The data model is a weighted graph: edges carry distance and energy cost. Our worked example uses a depot plus delivery points and a 100-unit budget. [Icons: browser, server, gears]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min-heap picks the most urgent delivery first, breaking ties by lowest cost, in O(log n) per operation. Dijkstra repeatedly settles the cheapest unsettled node and relaxes its edges. It needs non-negative weights, because a negative edge could lower an already-settled cost. Total time is O((V+E) log V). [Image: heap tree]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TSP finds the visit order that starts and ends at the depot and visits each point once. Brute force is exact but factorial, nearest neighbour is fast but not optimal, and Held-Karp is exact and practical for small n. For a handful of drop points we can afford Held-Karp. [Image: route loop with hexagon nodes]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idea: after choosing a route we check its energy against the 100-unit budget. Route A uses 82 percent and is accepted. Route B needs 127 percent, so it is rejected and the user sees exactly why. [Image: battery icon with check and cross]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prototype shows the glowing route on a Leaflet map with a panel for visit order, distance, battery used and rejection alerts. Replace the placeholders with screenshots and measured numbers from your runs. Limitations are wind, payload weight and charging stops, and future work includes multi-drone fleets, no-fly zones, A* and live rerouting. Close with Q and 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228600" y="228600"/>
            <a:ext cx="8686800" cy="4686300"/>
          </a:xfrm>
          <a:prstGeom prst="rect">
            <a:avLst/>
          </a:prstGeom>
          <a:ln w="9525">
            <a:solidFill>
              <a:srgbClr val="00E5FF">
                <a:alpha val="40000"/>
              </a:srgbClr>
            </a:solidFill>
            <a:prstDash val="solid"/>
          </a:ln>
        </p:spPr>
      </p:sp>
      <p:sp>
        <p:nvSpPr>
          <p:cNvPr id="3" name="Shape 1"/>
          <p:cNvSpPr/>
          <p:nvPr/>
        </p:nvSpPr>
        <p:spPr>
          <a:xfrm>
            <a:off x="731520" y="3246120"/>
            <a:ext cx="4572000" cy="0"/>
          </a:xfrm>
          <a:prstGeom prst="line">
            <a:avLst/>
          </a:prstGeom>
          <a:noFill/>
          <a:ln w="25400">
            <a:solidFill>
              <a:srgbClr val="00E5FF"/>
            </a:solidFill>
            <a:prstDash val="dash"/>
          </a:ln>
        </p:spPr>
      </p:sp>
      <p:sp>
        <p:nvSpPr>
          <p:cNvPr id="4" name="Shape 2"/>
          <p:cNvSpPr/>
          <p:nvPr/>
        </p:nvSpPr>
        <p:spPr>
          <a:xfrm>
            <a:off x="731520" y="3044952"/>
            <a:ext cx="457200" cy="402336"/>
          </a:xfrm>
          <a:prstGeom prst="hexagon">
            <a:avLst/>
          </a:prstGeom>
          <a:solidFill>
            <a:srgbClr val="0B1020"/>
          </a:solidFill>
          <a:ln w="19050">
            <a:solidFill>
              <a:srgbClr val="FFB300"/>
            </a:solidFill>
            <a:prstDash val="solid"/>
          </a:ln>
        </p:spPr>
      </p:sp>
      <p:sp>
        <p:nvSpPr>
          <p:cNvPr id="5" name="Text 3"/>
          <p:cNvSpPr txBox="1"/>
          <p:nvPr/>
        </p:nvSpPr>
        <p:spPr>
          <a:xfrm>
            <a:off x="731520" y="3044952"/>
            <a:ext cx="457200" cy="402336"/>
          </a:xfrm>
          <a:prstGeom prst="rect">
            <a:avLst/>
          </a:prstGeom>
          <a:noFill/>
          <a:ln/>
        </p:spPr>
        <p:txBody>
          <a:bodyPr wrap="square" lIns="0" tIns="0" rIns="0" bIns="0" rtlCol="0" anchor="ctr"/>
          <a:lstStyle/>
          <a:p>
            <a:pPr marL="0" indent="0" algn="ctr">
              <a:buNone/>
            </a:pPr>
            <a:r>
              <a:rPr lang="en-US" sz="1000" b="1" dirty="0">
                <a:solidFill>
                  <a:srgbClr val="FFB300"/>
                </a:solidFill>
                <a:latin typeface="JetBrains Mono" pitchFamily="34" charset="0"/>
                <a:ea typeface="JetBrains Mono" pitchFamily="34" charset="-122"/>
                <a:cs typeface="JetBrains Mono" pitchFamily="34" charset="-120"/>
              </a:rPr>
              <a:t>D</a:t>
            </a:r>
            <a:endParaRPr lang="en-US" sz="1000" dirty="0"/>
          </a:p>
        </p:txBody>
      </p:sp>
      <p:sp>
        <p:nvSpPr>
          <p:cNvPr id="6" name="Shape 4"/>
          <p:cNvSpPr/>
          <p:nvPr/>
        </p:nvSpPr>
        <p:spPr>
          <a:xfrm>
            <a:off x="2834640" y="3044952"/>
            <a:ext cx="457200" cy="402336"/>
          </a:xfrm>
          <a:prstGeom prst="hexagon">
            <a:avLst/>
          </a:prstGeom>
          <a:solidFill>
            <a:srgbClr val="0B1020"/>
          </a:solidFill>
          <a:ln w="19050">
            <a:solidFill>
              <a:srgbClr val="00E5FF"/>
            </a:solidFill>
            <a:prstDash val="solid"/>
          </a:ln>
        </p:spPr>
      </p:sp>
      <p:sp>
        <p:nvSpPr>
          <p:cNvPr id="7" name="Text 5"/>
          <p:cNvSpPr txBox="1"/>
          <p:nvPr/>
        </p:nvSpPr>
        <p:spPr>
          <a:xfrm>
            <a:off x="2834640" y="3044952"/>
            <a:ext cx="457200" cy="402336"/>
          </a:xfrm>
          <a:prstGeom prst="rect">
            <a:avLst/>
          </a:prstGeom>
          <a:noFill/>
          <a:ln/>
        </p:spPr>
        <p:txBody>
          <a:bodyPr wrap="square" lIns="0" tIns="0" rIns="0" bIns="0" rtlCol="0" anchor="ctr"/>
          <a:lstStyle/>
          <a:p>
            <a:pPr marL="0" indent="0" algn="ctr">
              <a:buNone/>
            </a:pPr>
            <a:r>
              <a:rPr lang="en-US" sz="1000" b="1" dirty="0">
                <a:solidFill>
                  <a:srgbClr val="00E5FF"/>
                </a:solidFill>
                <a:latin typeface="JetBrains Mono" pitchFamily="34" charset="0"/>
                <a:ea typeface="JetBrains Mono" pitchFamily="34" charset="-122"/>
                <a:cs typeface="JetBrains Mono" pitchFamily="34" charset="-120"/>
              </a:rPr>
              <a:t>B</a:t>
            </a:r>
            <a:endParaRPr lang="en-US" sz="1000" dirty="0"/>
          </a:p>
        </p:txBody>
      </p:sp>
      <p:sp>
        <p:nvSpPr>
          <p:cNvPr id="8" name="Shape 6"/>
          <p:cNvSpPr/>
          <p:nvPr/>
        </p:nvSpPr>
        <p:spPr>
          <a:xfrm>
            <a:off x="5029200" y="3044952"/>
            <a:ext cx="457200" cy="402336"/>
          </a:xfrm>
          <a:prstGeom prst="hexagon">
            <a:avLst/>
          </a:prstGeom>
          <a:solidFill>
            <a:srgbClr val="0B1020"/>
          </a:solidFill>
          <a:ln w="19050">
            <a:solidFill>
              <a:srgbClr val="00E5FF"/>
            </a:solidFill>
            <a:prstDash val="solid"/>
          </a:ln>
        </p:spPr>
      </p:sp>
      <p:sp>
        <p:nvSpPr>
          <p:cNvPr id="9" name="Text 7"/>
          <p:cNvSpPr txBox="1"/>
          <p:nvPr/>
        </p:nvSpPr>
        <p:spPr>
          <a:xfrm>
            <a:off x="5029200" y="3044952"/>
            <a:ext cx="457200" cy="402336"/>
          </a:xfrm>
          <a:prstGeom prst="rect">
            <a:avLst/>
          </a:prstGeom>
          <a:noFill/>
          <a:ln/>
        </p:spPr>
        <p:txBody>
          <a:bodyPr wrap="square" lIns="0" tIns="0" rIns="0" bIns="0" rtlCol="0" anchor="ctr"/>
          <a:lstStyle/>
          <a:p>
            <a:pPr marL="0" indent="0" algn="ctr">
              <a:buNone/>
            </a:pPr>
            <a:r>
              <a:rPr lang="en-US" sz="1000" b="1" dirty="0">
                <a:solidFill>
                  <a:srgbClr val="00E5FF"/>
                </a:solidFill>
                <a:latin typeface="JetBrains Mono" pitchFamily="34" charset="0"/>
                <a:ea typeface="JetBrains Mono" pitchFamily="34" charset="-122"/>
                <a:cs typeface="JetBrains Mono" pitchFamily="34" charset="-120"/>
              </a:rPr>
              <a:t>C</a:t>
            </a:r>
            <a:endParaRPr lang="en-US" sz="1000" dirty="0"/>
          </a:p>
        </p:txBody>
      </p:sp>
      <p:sp>
        <p:nvSpPr>
          <p:cNvPr id="10" name="Text 8"/>
          <p:cNvSpPr txBox="1"/>
          <p:nvPr/>
        </p:nvSpPr>
        <p:spPr>
          <a:xfrm>
            <a:off x="731520" y="822960"/>
            <a:ext cx="7315200" cy="274320"/>
          </a:xfrm>
          <a:prstGeom prst="rect">
            <a:avLst/>
          </a:prstGeom>
          <a:noFill/>
          <a:ln/>
        </p:spPr>
        <p:txBody>
          <a:bodyPr wrap="square" lIns="0" tIns="0" rIns="0" bIns="0" rtlCol="0" anchor="t"/>
          <a:lstStyle/>
          <a:p>
            <a:pPr marL="0" indent="0">
              <a:buNone/>
            </a:pPr>
            <a:r>
              <a:rPr lang="en-US" sz="1000" dirty="0">
                <a:solidFill>
                  <a:srgbClr val="FFB300"/>
                </a:solidFill>
                <a:latin typeface="JetBrains Mono" pitchFamily="34" charset="0"/>
                <a:ea typeface="JetBrains Mono" pitchFamily="34" charset="-122"/>
                <a:cs typeface="JetBrains Mono" pitchFamily="34" charset="-120"/>
              </a:rPr>
              <a:t>MISSION BRIEFING · DAA COURSE REVIEW</a:t>
            </a:r>
            <a:endParaRPr lang="en-US" sz="1000" dirty="0"/>
          </a:p>
        </p:txBody>
      </p:sp>
      <p:sp>
        <p:nvSpPr>
          <p:cNvPr id="11" name="Text 9"/>
          <p:cNvSpPr txBox="1"/>
          <p:nvPr/>
        </p:nvSpPr>
        <p:spPr>
          <a:xfrm>
            <a:off x="731520" y="1188720"/>
            <a:ext cx="7680960" cy="1188720"/>
          </a:xfrm>
          <a:prstGeom prst="rect">
            <a:avLst/>
          </a:prstGeom>
          <a:noFill/>
          <a:ln/>
        </p:spPr>
        <p:txBody>
          <a:bodyPr wrap="square" lIns="0" tIns="0" rIns="0" bIns="0" rtlCol="0" anchor="t"/>
          <a:lstStyle/>
          <a:p>
            <a:pPr marL="0" indent="0">
              <a:buNone/>
            </a:pPr>
            <a:r>
              <a:rPr lang="en-US" sz="3400" b="1" dirty="0">
                <a:solidFill>
                  <a:srgbClr val="00E5FF"/>
                </a:solidFill>
                <a:latin typeface="Orbitron" pitchFamily="34" charset="0"/>
                <a:ea typeface="Orbitron" pitchFamily="34" charset="-122"/>
                <a:cs typeface="Orbitron" pitchFamily="34" charset="-120"/>
              </a:rPr>
              <a:t>DRONE DELIVERY</a:t>
            </a:r>
            <a:endParaRPr lang="en-US" sz="3400" dirty="0"/>
          </a:p>
          <a:p>
            <a:pPr marL="0" indent="0">
              <a:buNone/>
            </a:pPr>
            <a:r>
              <a:rPr lang="en-US" sz="3400" b="1" dirty="0">
                <a:solidFill>
                  <a:srgbClr val="00E5FF"/>
                </a:solidFill>
                <a:latin typeface="Orbitron" pitchFamily="34" charset="0"/>
                <a:ea typeface="Orbitron" pitchFamily="34" charset="-122"/>
                <a:cs typeface="Orbitron" pitchFamily="34" charset="-120"/>
              </a:rPr>
              <a:t>PATH PLANNER</a:t>
            </a:r>
            <a:endParaRPr lang="en-US" sz="3400" dirty="0"/>
          </a:p>
        </p:txBody>
      </p:sp>
      <p:sp>
        <p:nvSpPr>
          <p:cNvPr id="12" name="Text 10"/>
          <p:cNvSpPr txBox="1"/>
          <p:nvPr/>
        </p:nvSpPr>
        <p:spPr>
          <a:xfrm>
            <a:off x="731520" y="2468880"/>
            <a:ext cx="7680960" cy="320040"/>
          </a:xfrm>
          <a:prstGeom prst="rect">
            <a:avLst/>
          </a:prstGeom>
          <a:noFill/>
          <a:ln/>
        </p:spPr>
        <p:txBody>
          <a:bodyPr wrap="square" lIns="0" tIns="0" rIns="0" bIns="0" rtlCol="0" anchor="t"/>
          <a:lstStyle/>
          <a:p>
            <a:pPr marL="0" indent="0">
              <a:buNone/>
            </a:pPr>
            <a:r>
              <a:rPr lang="en-US" sz="1400" dirty="0">
                <a:solidFill>
                  <a:srgbClr val="E6EEF8"/>
                </a:solidFill>
                <a:latin typeface="Inter" pitchFamily="34" charset="0"/>
                <a:ea typeface="Inter" pitchFamily="34" charset="-122"/>
                <a:cs typeface="Inter" pitchFamily="34" charset="-120"/>
              </a:rPr>
              <a:t>Battery-Aware Routing with Dijkstra, TSP and Priority Queue</a:t>
            </a:r>
            <a:endParaRPr lang="en-US" sz="1400" dirty="0"/>
          </a:p>
        </p:txBody>
      </p:sp>
      <p:sp>
        <p:nvSpPr>
          <p:cNvPr id="13" name="Text 11"/>
          <p:cNvSpPr txBox="1"/>
          <p:nvPr/>
        </p:nvSpPr>
        <p:spPr>
          <a:xfrm>
            <a:off x="731520" y="3840480"/>
            <a:ext cx="7315200" cy="274320"/>
          </a:xfrm>
          <a:prstGeom prst="rect">
            <a:avLst/>
          </a:prstGeom>
          <a:noFill/>
          <a:ln/>
        </p:spPr>
        <p:txBody>
          <a:bodyPr wrap="square" lIns="0" tIns="0" rIns="0" bIns="0" rtlCol="0" anchor="t"/>
          <a:lstStyle/>
          <a:p>
            <a:pPr marL="0" indent="0">
              <a:buNone/>
            </a:pPr>
            <a:r>
              <a:rPr lang="en-US" sz="1200" i="1" dirty="0">
                <a:solidFill>
                  <a:srgbClr val="39FF88"/>
                </a:solidFill>
                <a:latin typeface="Inter" pitchFamily="34" charset="0"/>
                <a:ea typeface="Inter" pitchFamily="34" charset="-122"/>
                <a:cs typeface="Inter" pitchFamily="34" charset="-120"/>
              </a:rPr>
              <a:t>Every watt counts. Every route is justified.</a:t>
            </a:r>
            <a:endParaRPr lang="en-US" sz="1200" dirty="0"/>
          </a:p>
        </p:txBody>
      </p:sp>
      <p:sp>
        <p:nvSpPr>
          <p:cNvPr id="14" name="Text 12"/>
          <p:cNvSpPr txBox="1"/>
          <p:nvPr/>
        </p:nvSpPr>
        <p:spPr>
          <a:xfrm>
            <a:off x="731520" y="4251960"/>
            <a:ext cx="7315200" cy="228600"/>
          </a:xfrm>
          <a:prstGeom prst="rect">
            <a:avLst/>
          </a:prstGeom>
          <a:noFill/>
          <a:ln/>
        </p:spPr>
        <p:txBody>
          <a:bodyPr wrap="square" lIns="0" tIns="0" rIns="0" bIns="0" rtlCol="0" anchor="t"/>
          <a:lstStyle/>
          <a:p>
            <a:pPr marL="0" indent="0">
              <a:buNone/>
            </a:pPr>
            <a:r>
              <a:rPr lang="en-US" sz="900" dirty="0">
                <a:solidFill>
                  <a:srgbClr val="7F8CA8"/>
                </a:solidFill>
                <a:latin typeface="JetBrains Mono" pitchFamily="34" charset="0"/>
                <a:ea typeface="JetBrains Mono" pitchFamily="34" charset="-122"/>
                <a:cs typeface="JetBrains Mono" pitchFamily="34" charset="-120"/>
              </a:rPr>
              <a:t>Team: [names]   ·   Guide: [name]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228600" y="228600"/>
            <a:ext cx="8686800" cy="4686300"/>
          </a:xfrm>
          <a:prstGeom prst="rect">
            <a:avLst/>
          </a:prstGeom>
          <a:ln w="9525">
            <a:solidFill>
              <a:srgbClr val="00E5FF">
                <a:alpha val="40000"/>
              </a:srgbClr>
            </a:solidFill>
            <a:prstDash val="solid"/>
          </a:ln>
        </p:spPr>
      </p:sp>
      <p:sp>
        <p:nvSpPr>
          <p:cNvPr id="3" name="Shape 1"/>
          <p:cNvSpPr/>
          <p:nvPr/>
        </p:nvSpPr>
        <p:spPr>
          <a:xfrm>
            <a:off x="228600" y="228600"/>
            <a:ext cx="228600" cy="0"/>
          </a:xfrm>
          <a:prstGeom prst="line">
            <a:avLst/>
          </a:prstGeom>
          <a:noFill/>
          <a:ln w="25400">
            <a:solidFill>
              <a:srgbClr val="00E5FF"/>
            </a:solidFill>
            <a:prstDash val="solid"/>
          </a:ln>
        </p:spPr>
      </p:sp>
      <p:sp>
        <p:nvSpPr>
          <p:cNvPr id="4" name="Shape 2"/>
          <p:cNvSpPr/>
          <p:nvPr/>
        </p:nvSpPr>
        <p:spPr>
          <a:xfrm>
            <a:off x="228600" y="228600"/>
            <a:ext cx="0" cy="228600"/>
          </a:xfrm>
          <a:prstGeom prst="line">
            <a:avLst/>
          </a:prstGeom>
          <a:noFill/>
          <a:ln w="25400">
            <a:solidFill>
              <a:srgbClr val="00E5FF"/>
            </a:solidFill>
            <a:prstDash val="solid"/>
          </a:ln>
        </p:spPr>
      </p:sp>
      <p:sp>
        <p:nvSpPr>
          <p:cNvPr id="5" name="Shape 3"/>
          <p:cNvSpPr/>
          <p:nvPr/>
        </p:nvSpPr>
        <p:spPr>
          <a:xfrm>
            <a:off x="8686800" y="228600"/>
            <a:ext cx="228600" cy="0"/>
          </a:xfrm>
          <a:prstGeom prst="line">
            <a:avLst/>
          </a:prstGeom>
          <a:noFill/>
          <a:ln w="25400">
            <a:solidFill>
              <a:srgbClr val="00E5FF"/>
            </a:solidFill>
            <a:prstDash val="solid"/>
          </a:ln>
        </p:spPr>
      </p:sp>
      <p:sp>
        <p:nvSpPr>
          <p:cNvPr id="6" name="Shape 4"/>
          <p:cNvSpPr/>
          <p:nvPr/>
        </p:nvSpPr>
        <p:spPr>
          <a:xfrm>
            <a:off x="8915400" y="228600"/>
            <a:ext cx="0" cy="228600"/>
          </a:xfrm>
          <a:prstGeom prst="line">
            <a:avLst/>
          </a:prstGeom>
          <a:noFill/>
          <a:ln w="25400">
            <a:solidFill>
              <a:srgbClr val="00E5FF"/>
            </a:solidFill>
            <a:prstDash val="solid"/>
          </a:ln>
        </p:spPr>
      </p:sp>
      <p:sp>
        <p:nvSpPr>
          <p:cNvPr id="7" name="Shape 5"/>
          <p:cNvSpPr/>
          <p:nvPr/>
        </p:nvSpPr>
        <p:spPr>
          <a:xfrm>
            <a:off x="228600" y="4914900"/>
            <a:ext cx="228600" cy="0"/>
          </a:xfrm>
          <a:prstGeom prst="line">
            <a:avLst/>
          </a:prstGeom>
          <a:noFill/>
          <a:ln w="25400">
            <a:solidFill>
              <a:srgbClr val="00E5FF"/>
            </a:solidFill>
            <a:prstDash val="solid"/>
          </a:ln>
        </p:spPr>
      </p:sp>
      <p:sp>
        <p:nvSpPr>
          <p:cNvPr id="8" name="Shape 6"/>
          <p:cNvSpPr/>
          <p:nvPr/>
        </p:nvSpPr>
        <p:spPr>
          <a:xfrm>
            <a:off x="228600" y="4686300"/>
            <a:ext cx="0" cy="228600"/>
          </a:xfrm>
          <a:prstGeom prst="line">
            <a:avLst/>
          </a:prstGeom>
          <a:noFill/>
          <a:ln w="25400">
            <a:solidFill>
              <a:srgbClr val="00E5FF"/>
            </a:solidFill>
            <a:prstDash val="solid"/>
          </a:ln>
        </p:spPr>
      </p:sp>
      <p:sp>
        <p:nvSpPr>
          <p:cNvPr id="9" name="Shape 7"/>
          <p:cNvSpPr/>
          <p:nvPr/>
        </p:nvSpPr>
        <p:spPr>
          <a:xfrm>
            <a:off x="8686800" y="4914900"/>
            <a:ext cx="228600" cy="0"/>
          </a:xfrm>
          <a:prstGeom prst="line">
            <a:avLst/>
          </a:prstGeom>
          <a:noFill/>
          <a:ln w="25400">
            <a:solidFill>
              <a:srgbClr val="00E5FF"/>
            </a:solidFill>
            <a:prstDash val="solid"/>
          </a:ln>
        </p:spPr>
      </p:sp>
      <p:sp>
        <p:nvSpPr>
          <p:cNvPr id="10" name="Shape 8"/>
          <p:cNvSpPr/>
          <p:nvPr/>
        </p:nvSpPr>
        <p:spPr>
          <a:xfrm>
            <a:off x="8915400" y="4686300"/>
            <a:ext cx="0" cy="228600"/>
          </a:xfrm>
          <a:prstGeom prst="line">
            <a:avLst/>
          </a:prstGeom>
          <a:noFill/>
          <a:ln w="25400">
            <a:solidFill>
              <a:srgbClr val="00E5FF"/>
            </a:solidFill>
            <a:prstDash val="solid"/>
          </a:ln>
        </p:spPr>
      </p:sp>
      <p:sp>
        <p:nvSpPr>
          <p:cNvPr id="11" name="Text 9"/>
          <p:cNvSpPr txBox="1"/>
          <p:nvPr/>
        </p:nvSpPr>
        <p:spPr>
          <a:xfrm>
            <a:off x="548640" y="411480"/>
            <a:ext cx="7498080" cy="457200"/>
          </a:xfrm>
          <a:prstGeom prst="rect">
            <a:avLst/>
          </a:prstGeom>
          <a:noFill/>
          <a:ln/>
        </p:spPr>
        <p:txBody>
          <a:bodyPr wrap="square" lIns="0" tIns="0" rIns="0" bIns="0" rtlCol="0" anchor="t"/>
          <a:lstStyle/>
          <a:p>
            <a:pPr marL="0" indent="0">
              <a:buNone/>
            </a:pPr>
            <a:r>
              <a:rPr lang="en-US" sz="2000" b="1" dirty="0">
                <a:solidFill>
                  <a:srgbClr val="00E5FF"/>
                </a:solidFill>
                <a:latin typeface="Orbitron" pitchFamily="34" charset="0"/>
                <a:ea typeface="Orbitron" pitchFamily="34" charset="-122"/>
                <a:cs typeface="Orbitron" pitchFamily="34" charset="-120"/>
              </a:rPr>
              <a:t>THE MISSION: PROBLEM &amp; WHY IT MATTERS</a:t>
            </a:r>
            <a:endParaRPr lang="en-US" sz="2000" dirty="0"/>
          </a:p>
        </p:txBody>
      </p:sp>
      <p:sp>
        <p:nvSpPr>
          <p:cNvPr id="12" name="Shape 10"/>
          <p:cNvSpPr/>
          <p:nvPr/>
        </p:nvSpPr>
        <p:spPr>
          <a:xfrm>
            <a:off x="548640" y="914400"/>
            <a:ext cx="2743200" cy="0"/>
          </a:xfrm>
          <a:prstGeom prst="line">
            <a:avLst/>
          </a:prstGeom>
          <a:noFill/>
          <a:ln w="19050">
            <a:solidFill>
              <a:srgbClr val="00E5FF"/>
            </a:solidFill>
            <a:prstDash val="dash"/>
          </a:ln>
        </p:spPr>
      </p:sp>
      <p:sp>
        <p:nvSpPr>
          <p:cNvPr id="13" name="Text 11"/>
          <p:cNvSpPr txBox="1"/>
          <p:nvPr/>
        </p:nvSpPr>
        <p:spPr>
          <a:xfrm>
            <a:off x="5577840" y="4590288"/>
            <a:ext cx="731520" cy="182880"/>
          </a:xfrm>
          <a:prstGeom prst="rect">
            <a:avLst/>
          </a:prstGeom>
          <a:noFill/>
          <a:ln/>
        </p:spPr>
        <p:txBody>
          <a:bodyPr wrap="square" lIns="0" tIns="0" rIns="0" bIns="0" rtlCol="0" anchor="t"/>
          <a:lstStyle/>
          <a:p>
            <a:pPr marL="0" indent="0">
              <a:buNone/>
            </a:pPr>
            <a:r>
              <a:rPr lang="en-US" sz="700" dirty="0">
                <a:solidFill>
                  <a:srgbClr val="7F8CA8"/>
                </a:solidFill>
                <a:latin typeface="JetBrains Mono" pitchFamily="34" charset="0"/>
                <a:ea typeface="JetBrains Mono" pitchFamily="34" charset="-122"/>
                <a:cs typeface="JetBrains Mono" pitchFamily="34" charset="-120"/>
              </a:rPr>
              <a:t>BATTERY</a:t>
            </a:r>
            <a:endParaRPr lang="en-US" sz="700" dirty="0"/>
          </a:p>
        </p:txBody>
      </p:sp>
      <p:sp>
        <p:nvSpPr>
          <p:cNvPr id="14" name="Shape 12"/>
          <p:cNvSpPr/>
          <p:nvPr/>
        </p:nvSpPr>
        <p:spPr>
          <a:xfrm>
            <a:off x="6217920" y="4608576"/>
            <a:ext cx="2011680" cy="128016"/>
          </a:xfrm>
          <a:prstGeom prst="rect">
            <a:avLst/>
          </a:prstGeom>
          <a:ln w="9525">
            <a:solidFill>
              <a:srgbClr val="7F8CA8"/>
            </a:solidFill>
            <a:prstDash val="solid"/>
          </a:ln>
        </p:spPr>
      </p:sp>
      <p:sp>
        <p:nvSpPr>
          <p:cNvPr id="15" name="Shape 13"/>
          <p:cNvSpPr/>
          <p:nvPr/>
        </p:nvSpPr>
        <p:spPr>
          <a:xfrm>
            <a:off x="6217920" y="4608576"/>
            <a:ext cx="1669694" cy="128016"/>
          </a:xfrm>
          <a:prstGeom prst="rect">
            <a:avLst/>
          </a:prstGeom>
          <a:solidFill>
            <a:srgbClr val="39FF88"/>
          </a:solidFill>
          <a:ln/>
        </p:spPr>
      </p:sp>
      <p:sp>
        <p:nvSpPr>
          <p:cNvPr id="16" name="Text 14"/>
          <p:cNvSpPr txBox="1"/>
          <p:nvPr/>
        </p:nvSpPr>
        <p:spPr>
          <a:xfrm>
            <a:off x="8275320" y="4590288"/>
            <a:ext cx="457200" cy="182880"/>
          </a:xfrm>
          <a:prstGeom prst="rect">
            <a:avLst/>
          </a:prstGeom>
          <a:noFill/>
          <a:ln/>
        </p:spPr>
        <p:txBody>
          <a:bodyPr wrap="square" lIns="0" tIns="0" rIns="0" bIns="0" rtlCol="0" anchor="t"/>
          <a:lstStyle/>
          <a:p>
            <a:pPr marL="0" indent="0">
              <a:buNone/>
            </a:pPr>
            <a:r>
              <a:rPr lang="en-US" sz="700" dirty="0">
                <a:solidFill>
                  <a:srgbClr val="E6EEF8"/>
                </a:solidFill>
                <a:latin typeface="JetBrains Mono" pitchFamily="34" charset="0"/>
                <a:ea typeface="JetBrains Mono" pitchFamily="34" charset="-122"/>
                <a:cs typeface="JetBrains Mono" pitchFamily="34" charset="-120"/>
              </a:rPr>
              <a:t>83%</a:t>
            </a:r>
            <a:endParaRPr lang="en-US" sz="700" dirty="0"/>
          </a:p>
        </p:txBody>
      </p:sp>
      <p:sp>
        <p:nvSpPr>
          <p:cNvPr id="17" name="Shape 15"/>
          <p:cNvSpPr/>
          <p:nvPr/>
        </p:nvSpPr>
        <p:spPr>
          <a:xfrm>
            <a:off x="548640" y="4572000"/>
            <a:ext cx="274320" cy="237744"/>
          </a:xfrm>
          <a:prstGeom prst="hexagon">
            <a:avLst/>
          </a:prstGeom>
          <a:solidFill>
            <a:srgbClr val="141B33"/>
          </a:solidFill>
          <a:ln w="12700">
            <a:solidFill>
              <a:srgbClr val="00E5FF"/>
            </a:solidFill>
            <a:prstDash val="solid"/>
          </a:ln>
        </p:spPr>
      </p:sp>
      <p:sp>
        <p:nvSpPr>
          <p:cNvPr id="18" name="Text 16"/>
          <p:cNvSpPr txBox="1"/>
          <p:nvPr/>
        </p:nvSpPr>
        <p:spPr>
          <a:xfrm>
            <a:off x="548640" y="4572000"/>
            <a:ext cx="274320" cy="237744"/>
          </a:xfrm>
          <a:prstGeom prst="rect">
            <a:avLst/>
          </a:prstGeom>
          <a:noFill/>
          <a:ln/>
        </p:spPr>
        <p:txBody>
          <a:bodyPr wrap="square" lIns="0" tIns="0" rIns="0" bIns="0" rtlCol="0" anchor="ctr"/>
          <a:lstStyle/>
          <a:p>
            <a:pPr marL="0" indent="0" algn="ctr">
              <a:buNone/>
            </a:pPr>
            <a:r>
              <a:rPr lang="en-US" sz="900" b="1" dirty="0">
                <a:solidFill>
                  <a:srgbClr val="00E5FF"/>
                </a:solidFill>
                <a:latin typeface="JetBrains Mono" pitchFamily="34" charset="0"/>
                <a:ea typeface="JetBrains Mono" pitchFamily="34" charset="-122"/>
                <a:cs typeface="JetBrains Mono" pitchFamily="34" charset="-120"/>
              </a:rPr>
              <a:t>2</a:t>
            </a:r>
            <a:endParaRPr lang="en-US" sz="900" dirty="0"/>
          </a:p>
        </p:txBody>
      </p:sp>
      <p:sp>
        <p:nvSpPr>
          <p:cNvPr id="20" name="Shape 17"/>
          <p:cNvSpPr/>
          <p:nvPr/>
        </p:nvSpPr>
        <p:spPr>
          <a:xfrm>
            <a:off x="548640" y="1188720"/>
            <a:ext cx="2514600" cy="914400"/>
          </a:xfrm>
          <a:prstGeom prst="roundRect">
            <a:avLst>
              <a:gd name="adj" fmla="val 8000"/>
            </a:avLst>
          </a:prstGeom>
          <a:solidFill>
            <a:srgbClr val="141B33"/>
          </a:solidFill>
          <a:ln w="12700">
            <a:solidFill>
              <a:srgbClr val="00E5FF"/>
            </a:solidFill>
            <a:prstDash val="solid"/>
          </a:ln>
        </p:spPr>
      </p:sp>
      <p:sp>
        <p:nvSpPr>
          <p:cNvPr id="21" name="Text 18"/>
          <p:cNvSpPr txBox="1"/>
          <p:nvPr/>
        </p:nvSpPr>
        <p:spPr>
          <a:xfrm>
            <a:off x="731520" y="1298448"/>
            <a:ext cx="2194560" cy="274320"/>
          </a:xfrm>
          <a:prstGeom prst="rect">
            <a:avLst/>
          </a:prstGeom>
          <a:noFill/>
          <a:ln/>
        </p:spPr>
        <p:txBody>
          <a:bodyPr wrap="square" lIns="0" tIns="0" rIns="0" bIns="0" rtlCol="0" anchor="t"/>
          <a:lstStyle/>
          <a:p>
            <a:pPr marL="0" indent="0">
              <a:buNone/>
            </a:pPr>
            <a:r>
              <a:rPr lang="en-US" sz="1300" b="1" dirty="0">
                <a:solidFill>
                  <a:srgbClr val="00E5FF"/>
                </a:solidFill>
                <a:latin typeface="Orbitron" pitchFamily="34" charset="0"/>
                <a:ea typeface="Orbitron" pitchFamily="34" charset="-122"/>
                <a:cs typeface="Orbitron" pitchFamily="34" charset="-120"/>
              </a:rPr>
              <a:t>DISTANCE</a:t>
            </a:r>
            <a:endParaRPr lang="en-US" sz="1300" dirty="0"/>
          </a:p>
        </p:txBody>
      </p:sp>
      <p:sp>
        <p:nvSpPr>
          <p:cNvPr id="22" name="Text 19"/>
          <p:cNvSpPr txBox="1"/>
          <p:nvPr/>
        </p:nvSpPr>
        <p:spPr>
          <a:xfrm>
            <a:off x="731520" y="1645920"/>
            <a:ext cx="2194560" cy="365760"/>
          </a:xfrm>
          <a:prstGeom prst="rect">
            <a:avLst/>
          </a:prstGeom>
          <a:noFill/>
          <a:ln/>
        </p:spPr>
        <p:txBody>
          <a:bodyPr wrap="square" lIns="0" tIns="0" rIns="0" bIns="0" rtlCol="0" anchor="t"/>
          <a:lstStyle/>
          <a:p>
            <a:pPr marL="0" indent="0">
              <a:buNone/>
            </a:pPr>
            <a:r>
              <a:rPr lang="en-US" sz="1000" dirty="0">
                <a:solidFill>
                  <a:srgbClr val="E6EEF8"/>
                </a:solidFill>
                <a:latin typeface="Inter" pitchFamily="34" charset="0"/>
                <a:ea typeface="Inter" pitchFamily="34" charset="-122"/>
                <a:cs typeface="Inter" pitchFamily="34" charset="-120"/>
              </a:rPr>
              <a:t>Shortest legs between stops</a:t>
            </a:r>
            <a:endParaRPr lang="en-US" sz="1000" dirty="0"/>
          </a:p>
        </p:txBody>
      </p:sp>
      <p:sp>
        <p:nvSpPr>
          <p:cNvPr id="23" name="Shape 20"/>
          <p:cNvSpPr/>
          <p:nvPr/>
        </p:nvSpPr>
        <p:spPr>
          <a:xfrm>
            <a:off x="3246120" y="1188720"/>
            <a:ext cx="2514600" cy="914400"/>
          </a:xfrm>
          <a:prstGeom prst="roundRect">
            <a:avLst>
              <a:gd name="adj" fmla="val 8000"/>
            </a:avLst>
          </a:prstGeom>
          <a:solidFill>
            <a:srgbClr val="141B33"/>
          </a:solidFill>
          <a:ln w="12700">
            <a:solidFill>
              <a:srgbClr val="FF4D6D"/>
            </a:solidFill>
            <a:prstDash val="solid"/>
          </a:ln>
        </p:spPr>
      </p:sp>
      <p:sp>
        <p:nvSpPr>
          <p:cNvPr id="24" name="Text 21"/>
          <p:cNvSpPr txBox="1"/>
          <p:nvPr/>
        </p:nvSpPr>
        <p:spPr>
          <a:xfrm>
            <a:off x="3429000" y="1298448"/>
            <a:ext cx="2194560" cy="274320"/>
          </a:xfrm>
          <a:prstGeom prst="rect">
            <a:avLst/>
          </a:prstGeom>
          <a:noFill/>
          <a:ln/>
        </p:spPr>
        <p:txBody>
          <a:bodyPr wrap="square" lIns="0" tIns="0" rIns="0" bIns="0" rtlCol="0" anchor="t"/>
          <a:lstStyle/>
          <a:p>
            <a:pPr marL="0" indent="0">
              <a:buNone/>
            </a:pPr>
            <a:r>
              <a:rPr lang="en-US" sz="1300" b="1" dirty="0">
                <a:solidFill>
                  <a:srgbClr val="FF4D6D"/>
                </a:solidFill>
                <a:latin typeface="Orbitron" pitchFamily="34" charset="0"/>
                <a:ea typeface="Orbitron" pitchFamily="34" charset="-122"/>
                <a:cs typeface="Orbitron" pitchFamily="34" charset="-120"/>
              </a:rPr>
              <a:t>BATTERY</a:t>
            </a:r>
            <a:endParaRPr lang="en-US" sz="1300" dirty="0"/>
          </a:p>
        </p:txBody>
      </p:sp>
      <p:sp>
        <p:nvSpPr>
          <p:cNvPr id="25" name="Text 22"/>
          <p:cNvSpPr txBox="1"/>
          <p:nvPr/>
        </p:nvSpPr>
        <p:spPr>
          <a:xfrm>
            <a:off x="3429000" y="1645920"/>
            <a:ext cx="2194560" cy="365760"/>
          </a:xfrm>
          <a:prstGeom prst="rect">
            <a:avLst/>
          </a:prstGeom>
          <a:noFill/>
          <a:ln/>
        </p:spPr>
        <p:txBody>
          <a:bodyPr wrap="square" lIns="0" tIns="0" rIns="0" bIns="0" rtlCol="0" anchor="t"/>
          <a:lstStyle/>
          <a:p>
            <a:pPr marL="0" indent="0">
              <a:buNone/>
            </a:pPr>
            <a:r>
              <a:rPr lang="en-US" sz="1000" dirty="0">
                <a:solidFill>
                  <a:srgbClr val="E6EEF8"/>
                </a:solidFill>
                <a:latin typeface="Inter" pitchFamily="34" charset="0"/>
                <a:ea typeface="Inter" pitchFamily="34" charset="-122"/>
                <a:cs typeface="Inter" pitchFamily="34" charset="-120"/>
              </a:rPr>
              <a:t>Budget = 100 units, hard limit</a:t>
            </a:r>
            <a:endParaRPr lang="en-US" sz="1000" dirty="0"/>
          </a:p>
        </p:txBody>
      </p:sp>
      <p:sp>
        <p:nvSpPr>
          <p:cNvPr id="26" name="Shape 23"/>
          <p:cNvSpPr/>
          <p:nvPr/>
        </p:nvSpPr>
        <p:spPr>
          <a:xfrm>
            <a:off x="5943600" y="1188720"/>
            <a:ext cx="2514600" cy="914400"/>
          </a:xfrm>
          <a:prstGeom prst="roundRect">
            <a:avLst>
              <a:gd name="adj" fmla="val 8000"/>
            </a:avLst>
          </a:prstGeom>
          <a:solidFill>
            <a:srgbClr val="141B33"/>
          </a:solidFill>
          <a:ln w="12700">
            <a:solidFill>
              <a:srgbClr val="FFB300"/>
            </a:solidFill>
            <a:prstDash val="solid"/>
          </a:ln>
        </p:spPr>
      </p:sp>
      <p:sp>
        <p:nvSpPr>
          <p:cNvPr id="27" name="Text 24"/>
          <p:cNvSpPr txBox="1"/>
          <p:nvPr/>
        </p:nvSpPr>
        <p:spPr>
          <a:xfrm>
            <a:off x="6126480" y="1298448"/>
            <a:ext cx="2194560" cy="274320"/>
          </a:xfrm>
          <a:prstGeom prst="rect">
            <a:avLst/>
          </a:prstGeom>
          <a:noFill/>
          <a:ln/>
        </p:spPr>
        <p:txBody>
          <a:bodyPr wrap="square" lIns="0" tIns="0" rIns="0" bIns="0" rtlCol="0" anchor="t"/>
          <a:lstStyle/>
          <a:p>
            <a:pPr marL="0" indent="0">
              <a:buNone/>
            </a:pPr>
            <a:r>
              <a:rPr lang="en-US" sz="1300" b="1" dirty="0">
                <a:solidFill>
                  <a:srgbClr val="FFB300"/>
                </a:solidFill>
                <a:latin typeface="Orbitron" pitchFamily="34" charset="0"/>
                <a:ea typeface="Orbitron" pitchFamily="34" charset="-122"/>
                <a:cs typeface="Orbitron" pitchFamily="34" charset="-120"/>
              </a:rPr>
              <a:t>PRIORITY</a:t>
            </a:r>
            <a:endParaRPr lang="en-US" sz="1300" dirty="0"/>
          </a:p>
        </p:txBody>
      </p:sp>
      <p:sp>
        <p:nvSpPr>
          <p:cNvPr id="28" name="Text 25"/>
          <p:cNvSpPr txBox="1"/>
          <p:nvPr/>
        </p:nvSpPr>
        <p:spPr>
          <a:xfrm>
            <a:off x="6126480" y="1645920"/>
            <a:ext cx="2194560" cy="365760"/>
          </a:xfrm>
          <a:prstGeom prst="rect">
            <a:avLst/>
          </a:prstGeom>
          <a:noFill/>
          <a:ln/>
        </p:spPr>
        <p:txBody>
          <a:bodyPr wrap="square" lIns="0" tIns="0" rIns="0" bIns="0" rtlCol="0" anchor="t"/>
          <a:lstStyle/>
          <a:p>
            <a:pPr marL="0" indent="0">
              <a:buNone/>
            </a:pPr>
            <a:r>
              <a:rPr lang="en-US" sz="1000" dirty="0">
                <a:solidFill>
                  <a:srgbClr val="E6EEF8"/>
                </a:solidFill>
                <a:latin typeface="Inter" pitchFamily="34" charset="0"/>
                <a:ea typeface="Inter" pitchFamily="34" charset="-122"/>
                <a:cs typeface="Inter" pitchFamily="34" charset="-120"/>
              </a:rPr>
              <a:t>Urgent drops served first</a:t>
            </a:r>
            <a:endParaRPr lang="en-US" sz="1000" dirty="0"/>
          </a:p>
        </p:txBody>
      </p:sp>
      <p:sp>
        <p:nvSpPr>
          <p:cNvPr id="29" name="Text 26"/>
          <p:cNvSpPr txBox="1"/>
          <p:nvPr/>
        </p:nvSpPr>
        <p:spPr>
          <a:xfrm>
            <a:off x="548640" y="2377440"/>
            <a:ext cx="3657600" cy="228600"/>
          </a:xfrm>
          <a:prstGeom prst="rect">
            <a:avLst/>
          </a:prstGeom>
          <a:noFill/>
          <a:ln/>
        </p:spPr>
        <p:txBody>
          <a:bodyPr wrap="square" lIns="0" tIns="0" rIns="0" bIns="0" rtlCol="0" anchor="t"/>
          <a:lstStyle/>
          <a:p>
            <a:pPr marL="0" indent="0">
              <a:buNone/>
            </a:pPr>
            <a:r>
              <a:rPr lang="en-US" sz="1000" dirty="0">
                <a:solidFill>
                  <a:srgbClr val="7F8CA8"/>
                </a:solidFill>
                <a:latin typeface="JetBrains Mono" pitchFamily="34" charset="0"/>
                <a:ea typeface="JetBrains Mono" pitchFamily="34" charset="-122"/>
                <a:cs typeface="JetBrains Mono" pitchFamily="34" charset="-120"/>
              </a:rPr>
              <a:t>WHERE IT MATTERS</a:t>
            </a:r>
            <a:endParaRPr lang="en-US" sz="1000" dirty="0"/>
          </a:p>
        </p:txBody>
      </p:sp>
      <p:sp>
        <p:nvSpPr>
          <p:cNvPr id="30" name="Shape 27"/>
          <p:cNvSpPr/>
          <p:nvPr/>
        </p:nvSpPr>
        <p:spPr>
          <a:xfrm>
            <a:off x="548640" y="2697480"/>
            <a:ext cx="2514600" cy="1097280"/>
          </a:xfrm>
          <a:prstGeom prst="roundRect">
            <a:avLst>
              <a:gd name="adj" fmla="val 6667"/>
            </a:avLst>
          </a:prstGeom>
          <a:solidFill>
            <a:srgbClr val="141B33"/>
          </a:solidFill>
          <a:ln w="12700">
            <a:solidFill>
              <a:srgbClr val="00E5FF"/>
            </a:solidFill>
            <a:prstDash val="solid"/>
          </a:ln>
        </p:spPr>
      </p:sp>
      <p:sp>
        <p:nvSpPr>
          <p:cNvPr id="31" name="Shape 28"/>
          <p:cNvSpPr/>
          <p:nvPr/>
        </p:nvSpPr>
        <p:spPr>
          <a:xfrm>
            <a:off x="731520" y="2880360"/>
            <a:ext cx="457200" cy="402336"/>
          </a:xfrm>
          <a:prstGeom prst="hexagon">
            <a:avLst/>
          </a:prstGeom>
          <a:solidFill>
            <a:srgbClr val="0B1020"/>
          </a:solidFill>
          <a:ln w="19050">
            <a:solidFill>
              <a:srgbClr val="39FF88"/>
            </a:solidFill>
            <a:prstDash val="solid"/>
          </a:ln>
        </p:spPr>
      </p:sp>
      <p:sp>
        <p:nvSpPr>
          <p:cNvPr id="32" name="Text 29"/>
          <p:cNvSpPr txBox="1"/>
          <p:nvPr/>
        </p:nvSpPr>
        <p:spPr>
          <a:xfrm>
            <a:off x="731520" y="2880360"/>
            <a:ext cx="457200" cy="402336"/>
          </a:xfrm>
          <a:prstGeom prst="rect">
            <a:avLst/>
          </a:prstGeom>
          <a:noFill/>
          <a:ln/>
        </p:spPr>
        <p:txBody>
          <a:bodyPr wrap="square" lIns="0" tIns="0" rIns="0" bIns="0" rtlCol="0" anchor="ctr"/>
          <a:lstStyle/>
          <a:p>
            <a:pPr marL="0" indent="0" algn="ctr">
              <a:buNone/>
            </a:pPr>
            <a:r>
              <a:rPr lang="en-US" sz="1000" b="1" dirty="0">
                <a:solidFill>
                  <a:srgbClr val="39FF88"/>
                </a:solidFill>
                <a:latin typeface="JetBrains Mono" pitchFamily="34" charset="0"/>
                <a:ea typeface="JetBrains Mono" pitchFamily="34" charset="-122"/>
                <a:cs typeface="JetBrains Mono" pitchFamily="34" charset="-120"/>
              </a:rPr>
              <a:t>1</a:t>
            </a:r>
            <a:endParaRPr lang="en-US" sz="1000" dirty="0"/>
          </a:p>
        </p:txBody>
      </p:sp>
      <p:sp>
        <p:nvSpPr>
          <p:cNvPr id="33" name="Text 30"/>
          <p:cNvSpPr txBox="1"/>
          <p:nvPr/>
        </p:nvSpPr>
        <p:spPr>
          <a:xfrm>
            <a:off x="1325880" y="2926080"/>
            <a:ext cx="1645920" cy="274320"/>
          </a:xfrm>
          <a:prstGeom prst="rect">
            <a:avLst/>
          </a:prstGeom>
          <a:noFill/>
          <a:ln/>
        </p:spPr>
        <p:txBody>
          <a:bodyPr wrap="square" lIns="0" tIns="0" rIns="0" bIns="0" rtlCol="0" anchor="t"/>
          <a:lstStyle/>
          <a:p>
            <a:pPr marL="0" indent="0">
              <a:buNone/>
            </a:pPr>
            <a:r>
              <a:rPr lang="en-US" sz="1200" b="1" dirty="0">
                <a:solidFill>
                  <a:srgbClr val="E6EEF8"/>
                </a:solidFill>
                <a:latin typeface="Inter" pitchFamily="34" charset="0"/>
                <a:ea typeface="Inter" pitchFamily="34" charset="-122"/>
                <a:cs typeface="Inter" pitchFamily="34" charset="-120"/>
              </a:rPr>
              <a:t>Medical supplies</a:t>
            </a:r>
            <a:endParaRPr lang="en-US" sz="1200" dirty="0"/>
          </a:p>
        </p:txBody>
      </p:sp>
      <p:sp>
        <p:nvSpPr>
          <p:cNvPr id="34" name="Text 31"/>
          <p:cNvSpPr txBox="1"/>
          <p:nvPr/>
        </p:nvSpPr>
        <p:spPr>
          <a:xfrm>
            <a:off x="731520" y="3429000"/>
            <a:ext cx="2194560" cy="274320"/>
          </a:xfrm>
          <a:prstGeom prst="rect">
            <a:avLst/>
          </a:prstGeom>
          <a:noFill/>
          <a:ln/>
        </p:spPr>
        <p:txBody>
          <a:bodyPr wrap="square" lIns="0" tIns="0" rIns="0" bIns="0" rtlCol="0" anchor="t"/>
          <a:lstStyle/>
          <a:p>
            <a:pPr marL="0" indent="0">
              <a:buNone/>
            </a:pPr>
            <a:r>
              <a:rPr lang="en-US" sz="1000" dirty="0">
                <a:solidFill>
                  <a:srgbClr val="7F8CA8"/>
                </a:solidFill>
                <a:latin typeface="Inter" pitchFamily="34" charset="0"/>
                <a:ea typeface="Inter" pitchFamily="34" charset="-122"/>
                <a:cs typeface="Inter" pitchFamily="34" charset="-120"/>
              </a:rPr>
              <a:t>Urgent, time-critical</a:t>
            </a:r>
            <a:endParaRPr lang="en-US" sz="1000" dirty="0"/>
          </a:p>
        </p:txBody>
      </p:sp>
      <p:sp>
        <p:nvSpPr>
          <p:cNvPr id="35" name="Shape 32"/>
          <p:cNvSpPr/>
          <p:nvPr/>
        </p:nvSpPr>
        <p:spPr>
          <a:xfrm>
            <a:off x="3246120" y="2697480"/>
            <a:ext cx="2514600" cy="1097280"/>
          </a:xfrm>
          <a:prstGeom prst="roundRect">
            <a:avLst>
              <a:gd name="adj" fmla="val 6667"/>
            </a:avLst>
          </a:prstGeom>
          <a:solidFill>
            <a:srgbClr val="141B33"/>
          </a:solidFill>
          <a:ln w="12700">
            <a:solidFill>
              <a:srgbClr val="00E5FF"/>
            </a:solidFill>
            <a:prstDash val="solid"/>
          </a:ln>
        </p:spPr>
      </p:sp>
      <p:sp>
        <p:nvSpPr>
          <p:cNvPr id="36" name="Shape 33"/>
          <p:cNvSpPr/>
          <p:nvPr/>
        </p:nvSpPr>
        <p:spPr>
          <a:xfrm>
            <a:off x="3429000" y="2880360"/>
            <a:ext cx="457200" cy="402336"/>
          </a:xfrm>
          <a:prstGeom prst="hexagon">
            <a:avLst/>
          </a:prstGeom>
          <a:solidFill>
            <a:srgbClr val="0B1020"/>
          </a:solidFill>
          <a:ln w="19050">
            <a:solidFill>
              <a:srgbClr val="39FF88"/>
            </a:solidFill>
            <a:prstDash val="solid"/>
          </a:ln>
        </p:spPr>
      </p:sp>
      <p:sp>
        <p:nvSpPr>
          <p:cNvPr id="37" name="Text 34"/>
          <p:cNvSpPr txBox="1"/>
          <p:nvPr/>
        </p:nvSpPr>
        <p:spPr>
          <a:xfrm>
            <a:off x="3429000" y="2880360"/>
            <a:ext cx="457200" cy="402336"/>
          </a:xfrm>
          <a:prstGeom prst="rect">
            <a:avLst/>
          </a:prstGeom>
          <a:noFill/>
          <a:ln/>
        </p:spPr>
        <p:txBody>
          <a:bodyPr wrap="square" lIns="0" tIns="0" rIns="0" bIns="0" rtlCol="0" anchor="ctr"/>
          <a:lstStyle/>
          <a:p>
            <a:pPr marL="0" indent="0" algn="ctr">
              <a:buNone/>
            </a:pPr>
            <a:r>
              <a:rPr lang="en-US" sz="1000" b="1" dirty="0">
                <a:solidFill>
                  <a:srgbClr val="39FF88"/>
                </a:solidFill>
                <a:latin typeface="JetBrains Mono" pitchFamily="34" charset="0"/>
                <a:ea typeface="JetBrains Mono" pitchFamily="34" charset="-122"/>
                <a:cs typeface="JetBrains Mono" pitchFamily="34" charset="-120"/>
              </a:rPr>
              <a:t>2</a:t>
            </a:r>
            <a:endParaRPr lang="en-US" sz="1000" dirty="0"/>
          </a:p>
        </p:txBody>
      </p:sp>
      <p:sp>
        <p:nvSpPr>
          <p:cNvPr id="38" name="Text 35"/>
          <p:cNvSpPr txBox="1"/>
          <p:nvPr/>
        </p:nvSpPr>
        <p:spPr>
          <a:xfrm>
            <a:off x="4023360" y="2926080"/>
            <a:ext cx="1645920" cy="274320"/>
          </a:xfrm>
          <a:prstGeom prst="rect">
            <a:avLst/>
          </a:prstGeom>
          <a:noFill/>
          <a:ln/>
        </p:spPr>
        <p:txBody>
          <a:bodyPr wrap="square" lIns="0" tIns="0" rIns="0" bIns="0" rtlCol="0" anchor="t"/>
          <a:lstStyle/>
          <a:p>
            <a:pPr marL="0" indent="0">
              <a:buNone/>
            </a:pPr>
            <a:r>
              <a:rPr lang="en-US" sz="1200" b="1" dirty="0">
                <a:solidFill>
                  <a:srgbClr val="E6EEF8"/>
                </a:solidFill>
                <a:latin typeface="Inter" pitchFamily="34" charset="0"/>
                <a:ea typeface="Inter" pitchFamily="34" charset="-122"/>
                <a:cs typeface="Inter" pitchFamily="34" charset="-120"/>
              </a:rPr>
              <a:t>E-commerce</a:t>
            </a:r>
            <a:endParaRPr lang="en-US" sz="1200" dirty="0"/>
          </a:p>
        </p:txBody>
      </p:sp>
      <p:sp>
        <p:nvSpPr>
          <p:cNvPr id="39" name="Text 36"/>
          <p:cNvSpPr txBox="1"/>
          <p:nvPr/>
        </p:nvSpPr>
        <p:spPr>
          <a:xfrm>
            <a:off x="3429000" y="3429000"/>
            <a:ext cx="2194560" cy="274320"/>
          </a:xfrm>
          <a:prstGeom prst="rect">
            <a:avLst/>
          </a:prstGeom>
          <a:noFill/>
          <a:ln/>
        </p:spPr>
        <p:txBody>
          <a:bodyPr wrap="square" lIns="0" tIns="0" rIns="0" bIns="0" rtlCol="0" anchor="t"/>
          <a:lstStyle/>
          <a:p>
            <a:pPr marL="0" indent="0">
              <a:buNone/>
            </a:pPr>
            <a:r>
              <a:rPr lang="en-US" sz="1000" dirty="0">
                <a:solidFill>
                  <a:srgbClr val="7F8CA8"/>
                </a:solidFill>
                <a:latin typeface="Inter" pitchFamily="34" charset="0"/>
                <a:ea typeface="Inter" pitchFamily="34" charset="-122"/>
                <a:cs typeface="Inter" pitchFamily="34" charset="-120"/>
              </a:rPr>
              <a:t>Many drops, low cost</a:t>
            </a:r>
            <a:endParaRPr lang="en-US" sz="1000" dirty="0"/>
          </a:p>
        </p:txBody>
      </p:sp>
      <p:sp>
        <p:nvSpPr>
          <p:cNvPr id="40" name="Shape 37"/>
          <p:cNvSpPr/>
          <p:nvPr/>
        </p:nvSpPr>
        <p:spPr>
          <a:xfrm>
            <a:off x="5943600" y="2697480"/>
            <a:ext cx="2514600" cy="1097280"/>
          </a:xfrm>
          <a:prstGeom prst="roundRect">
            <a:avLst>
              <a:gd name="adj" fmla="val 6667"/>
            </a:avLst>
          </a:prstGeom>
          <a:solidFill>
            <a:srgbClr val="141B33"/>
          </a:solidFill>
          <a:ln w="12700">
            <a:solidFill>
              <a:srgbClr val="00E5FF"/>
            </a:solidFill>
            <a:prstDash val="solid"/>
          </a:ln>
        </p:spPr>
      </p:sp>
      <p:sp>
        <p:nvSpPr>
          <p:cNvPr id="41" name="Shape 38"/>
          <p:cNvSpPr/>
          <p:nvPr/>
        </p:nvSpPr>
        <p:spPr>
          <a:xfrm>
            <a:off x="6126480" y="2880360"/>
            <a:ext cx="457200" cy="402336"/>
          </a:xfrm>
          <a:prstGeom prst="hexagon">
            <a:avLst/>
          </a:prstGeom>
          <a:solidFill>
            <a:srgbClr val="0B1020"/>
          </a:solidFill>
          <a:ln w="19050">
            <a:solidFill>
              <a:srgbClr val="39FF88"/>
            </a:solidFill>
            <a:prstDash val="solid"/>
          </a:ln>
        </p:spPr>
      </p:sp>
      <p:sp>
        <p:nvSpPr>
          <p:cNvPr id="42" name="Text 39"/>
          <p:cNvSpPr txBox="1"/>
          <p:nvPr/>
        </p:nvSpPr>
        <p:spPr>
          <a:xfrm>
            <a:off x="6126480" y="2880360"/>
            <a:ext cx="457200" cy="402336"/>
          </a:xfrm>
          <a:prstGeom prst="rect">
            <a:avLst/>
          </a:prstGeom>
          <a:noFill/>
          <a:ln/>
        </p:spPr>
        <p:txBody>
          <a:bodyPr wrap="square" lIns="0" tIns="0" rIns="0" bIns="0" rtlCol="0" anchor="ctr"/>
          <a:lstStyle/>
          <a:p>
            <a:pPr marL="0" indent="0" algn="ctr">
              <a:buNone/>
            </a:pPr>
            <a:r>
              <a:rPr lang="en-US" sz="1000" b="1" dirty="0">
                <a:solidFill>
                  <a:srgbClr val="39FF88"/>
                </a:solidFill>
                <a:latin typeface="JetBrains Mono" pitchFamily="34" charset="0"/>
                <a:ea typeface="JetBrains Mono" pitchFamily="34" charset="-122"/>
                <a:cs typeface="JetBrains Mono" pitchFamily="34" charset="-120"/>
              </a:rPr>
              <a:t>3</a:t>
            </a:r>
            <a:endParaRPr lang="en-US" sz="1000" dirty="0"/>
          </a:p>
        </p:txBody>
      </p:sp>
      <p:sp>
        <p:nvSpPr>
          <p:cNvPr id="43" name="Text 40"/>
          <p:cNvSpPr txBox="1"/>
          <p:nvPr/>
        </p:nvSpPr>
        <p:spPr>
          <a:xfrm>
            <a:off x="6720840" y="2926080"/>
            <a:ext cx="1645920" cy="274320"/>
          </a:xfrm>
          <a:prstGeom prst="rect">
            <a:avLst/>
          </a:prstGeom>
          <a:noFill/>
          <a:ln/>
        </p:spPr>
        <p:txBody>
          <a:bodyPr wrap="square" lIns="0" tIns="0" rIns="0" bIns="0" rtlCol="0" anchor="t"/>
          <a:lstStyle/>
          <a:p>
            <a:pPr marL="0" indent="0">
              <a:buNone/>
            </a:pPr>
            <a:r>
              <a:rPr lang="en-US" sz="1200" b="1" dirty="0">
                <a:solidFill>
                  <a:srgbClr val="E6EEF8"/>
                </a:solidFill>
                <a:latin typeface="Inter" pitchFamily="34" charset="0"/>
                <a:ea typeface="Inter" pitchFamily="34" charset="-122"/>
                <a:cs typeface="Inter" pitchFamily="34" charset="-120"/>
              </a:rPr>
              <a:t>Disaster relief</a:t>
            </a:r>
            <a:endParaRPr lang="en-US" sz="1200" dirty="0"/>
          </a:p>
        </p:txBody>
      </p:sp>
      <p:sp>
        <p:nvSpPr>
          <p:cNvPr id="44" name="Text 41"/>
          <p:cNvSpPr txBox="1"/>
          <p:nvPr/>
        </p:nvSpPr>
        <p:spPr>
          <a:xfrm>
            <a:off x="6126480" y="3429000"/>
            <a:ext cx="2194560" cy="274320"/>
          </a:xfrm>
          <a:prstGeom prst="rect">
            <a:avLst/>
          </a:prstGeom>
          <a:noFill/>
          <a:ln/>
        </p:spPr>
        <p:txBody>
          <a:bodyPr wrap="square" lIns="0" tIns="0" rIns="0" bIns="0" rtlCol="0" anchor="t"/>
          <a:lstStyle/>
          <a:p>
            <a:pPr marL="0" indent="0">
              <a:buNone/>
            </a:pPr>
            <a:r>
              <a:rPr lang="en-US" sz="1000" dirty="0">
                <a:solidFill>
                  <a:srgbClr val="7F8CA8"/>
                </a:solidFill>
                <a:latin typeface="Inter" pitchFamily="34" charset="0"/>
                <a:ea typeface="Inter" pitchFamily="34" charset="-122"/>
                <a:cs typeface="Inter" pitchFamily="34" charset="-120"/>
              </a:rPr>
              <a:t>Unreliable roads</a:t>
            </a:r>
            <a:endParaRPr lang="en-US" sz="1000" dirty="0"/>
          </a:p>
        </p:txBody>
      </p:sp>
      <p:sp>
        <p:nvSpPr>
          <p:cNvPr id="45" name="Text 42"/>
          <p:cNvSpPr txBox="1"/>
          <p:nvPr/>
        </p:nvSpPr>
        <p:spPr>
          <a:xfrm>
            <a:off x="548640" y="4023360"/>
            <a:ext cx="7772400" cy="274320"/>
          </a:xfrm>
          <a:prstGeom prst="rect">
            <a:avLst/>
          </a:prstGeom>
          <a:noFill/>
          <a:ln/>
        </p:spPr>
        <p:txBody>
          <a:bodyPr wrap="square" lIns="0" tIns="0" rIns="0" bIns="0" rtlCol="0" anchor="t"/>
          <a:lstStyle/>
          <a:p>
            <a:pPr marL="0" indent="0">
              <a:buNone/>
            </a:pPr>
            <a:r>
              <a:rPr lang="en-US" sz="1100" dirty="0">
                <a:solidFill>
                  <a:srgbClr val="39FF88"/>
                </a:solidFill>
                <a:latin typeface="Inter" pitchFamily="34" charset="0"/>
                <a:ea typeface="Inter" pitchFamily="34" charset="-122"/>
                <a:cs typeface="Inter" pitchFamily="34" charset="-120"/>
              </a:rPr>
              <a:t>Plan fast, explain every choice, reject unsafe routes.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228600" y="228600"/>
            <a:ext cx="8686800" cy="4686300"/>
          </a:xfrm>
          <a:prstGeom prst="rect">
            <a:avLst/>
          </a:prstGeom>
          <a:ln w="9525">
            <a:solidFill>
              <a:srgbClr val="00E5FF">
                <a:alpha val="40000"/>
              </a:srgbClr>
            </a:solidFill>
            <a:prstDash val="solid"/>
          </a:ln>
        </p:spPr>
      </p:sp>
      <p:sp>
        <p:nvSpPr>
          <p:cNvPr id="3" name="Shape 1"/>
          <p:cNvSpPr/>
          <p:nvPr/>
        </p:nvSpPr>
        <p:spPr>
          <a:xfrm>
            <a:off x="228600" y="228600"/>
            <a:ext cx="228600" cy="0"/>
          </a:xfrm>
          <a:prstGeom prst="line">
            <a:avLst/>
          </a:prstGeom>
          <a:noFill/>
          <a:ln w="25400">
            <a:solidFill>
              <a:srgbClr val="00E5FF"/>
            </a:solidFill>
            <a:prstDash val="solid"/>
          </a:ln>
        </p:spPr>
      </p:sp>
      <p:sp>
        <p:nvSpPr>
          <p:cNvPr id="4" name="Shape 2"/>
          <p:cNvSpPr/>
          <p:nvPr/>
        </p:nvSpPr>
        <p:spPr>
          <a:xfrm>
            <a:off x="228600" y="228600"/>
            <a:ext cx="0" cy="228600"/>
          </a:xfrm>
          <a:prstGeom prst="line">
            <a:avLst/>
          </a:prstGeom>
          <a:noFill/>
          <a:ln w="25400">
            <a:solidFill>
              <a:srgbClr val="00E5FF"/>
            </a:solidFill>
            <a:prstDash val="solid"/>
          </a:ln>
        </p:spPr>
      </p:sp>
      <p:sp>
        <p:nvSpPr>
          <p:cNvPr id="5" name="Shape 3"/>
          <p:cNvSpPr/>
          <p:nvPr/>
        </p:nvSpPr>
        <p:spPr>
          <a:xfrm>
            <a:off x="8686800" y="228600"/>
            <a:ext cx="228600" cy="0"/>
          </a:xfrm>
          <a:prstGeom prst="line">
            <a:avLst/>
          </a:prstGeom>
          <a:noFill/>
          <a:ln w="25400">
            <a:solidFill>
              <a:srgbClr val="00E5FF"/>
            </a:solidFill>
            <a:prstDash val="solid"/>
          </a:ln>
        </p:spPr>
      </p:sp>
      <p:sp>
        <p:nvSpPr>
          <p:cNvPr id="6" name="Shape 4"/>
          <p:cNvSpPr/>
          <p:nvPr/>
        </p:nvSpPr>
        <p:spPr>
          <a:xfrm>
            <a:off x="8915400" y="228600"/>
            <a:ext cx="0" cy="228600"/>
          </a:xfrm>
          <a:prstGeom prst="line">
            <a:avLst/>
          </a:prstGeom>
          <a:noFill/>
          <a:ln w="25400">
            <a:solidFill>
              <a:srgbClr val="00E5FF"/>
            </a:solidFill>
            <a:prstDash val="solid"/>
          </a:ln>
        </p:spPr>
      </p:sp>
      <p:sp>
        <p:nvSpPr>
          <p:cNvPr id="7" name="Shape 5"/>
          <p:cNvSpPr/>
          <p:nvPr/>
        </p:nvSpPr>
        <p:spPr>
          <a:xfrm>
            <a:off x="228600" y="4914900"/>
            <a:ext cx="228600" cy="0"/>
          </a:xfrm>
          <a:prstGeom prst="line">
            <a:avLst/>
          </a:prstGeom>
          <a:noFill/>
          <a:ln w="25400">
            <a:solidFill>
              <a:srgbClr val="00E5FF"/>
            </a:solidFill>
            <a:prstDash val="solid"/>
          </a:ln>
        </p:spPr>
      </p:sp>
      <p:sp>
        <p:nvSpPr>
          <p:cNvPr id="8" name="Shape 6"/>
          <p:cNvSpPr/>
          <p:nvPr/>
        </p:nvSpPr>
        <p:spPr>
          <a:xfrm>
            <a:off x="228600" y="4686300"/>
            <a:ext cx="0" cy="228600"/>
          </a:xfrm>
          <a:prstGeom prst="line">
            <a:avLst/>
          </a:prstGeom>
          <a:noFill/>
          <a:ln w="25400">
            <a:solidFill>
              <a:srgbClr val="00E5FF"/>
            </a:solidFill>
            <a:prstDash val="solid"/>
          </a:ln>
        </p:spPr>
      </p:sp>
      <p:sp>
        <p:nvSpPr>
          <p:cNvPr id="9" name="Shape 7"/>
          <p:cNvSpPr/>
          <p:nvPr/>
        </p:nvSpPr>
        <p:spPr>
          <a:xfrm>
            <a:off x="8686800" y="4914900"/>
            <a:ext cx="228600" cy="0"/>
          </a:xfrm>
          <a:prstGeom prst="line">
            <a:avLst/>
          </a:prstGeom>
          <a:noFill/>
          <a:ln w="25400">
            <a:solidFill>
              <a:srgbClr val="00E5FF"/>
            </a:solidFill>
            <a:prstDash val="solid"/>
          </a:ln>
        </p:spPr>
      </p:sp>
      <p:sp>
        <p:nvSpPr>
          <p:cNvPr id="10" name="Shape 8"/>
          <p:cNvSpPr/>
          <p:nvPr/>
        </p:nvSpPr>
        <p:spPr>
          <a:xfrm>
            <a:off x="8915400" y="4686300"/>
            <a:ext cx="0" cy="228600"/>
          </a:xfrm>
          <a:prstGeom prst="line">
            <a:avLst/>
          </a:prstGeom>
          <a:noFill/>
          <a:ln w="25400">
            <a:solidFill>
              <a:srgbClr val="00E5FF"/>
            </a:solidFill>
            <a:prstDash val="solid"/>
          </a:ln>
        </p:spPr>
      </p:sp>
      <p:sp>
        <p:nvSpPr>
          <p:cNvPr id="11" name="Text 9"/>
          <p:cNvSpPr txBox="1"/>
          <p:nvPr/>
        </p:nvSpPr>
        <p:spPr>
          <a:xfrm>
            <a:off x="548640" y="411480"/>
            <a:ext cx="7498080" cy="457200"/>
          </a:xfrm>
          <a:prstGeom prst="rect">
            <a:avLst/>
          </a:prstGeom>
          <a:noFill/>
          <a:ln/>
        </p:spPr>
        <p:txBody>
          <a:bodyPr wrap="square" lIns="0" tIns="0" rIns="0" bIns="0" rtlCol="0" anchor="t"/>
          <a:lstStyle/>
          <a:p>
            <a:pPr marL="0" indent="0">
              <a:buNone/>
            </a:pPr>
            <a:r>
              <a:rPr lang="en-US" sz="2000" b="1" dirty="0">
                <a:solidFill>
                  <a:srgbClr val="00E5FF"/>
                </a:solidFill>
                <a:latin typeface="Orbitron" pitchFamily="34" charset="0"/>
                <a:ea typeface="Orbitron" pitchFamily="34" charset="-122"/>
                <a:cs typeface="Orbitron" pitchFamily="34" charset="-120"/>
              </a:rPr>
              <a:t>ARCHITECTURE &amp; DATA MODEL</a:t>
            </a:r>
            <a:endParaRPr lang="en-US" sz="2000" dirty="0"/>
          </a:p>
        </p:txBody>
      </p:sp>
      <p:sp>
        <p:nvSpPr>
          <p:cNvPr id="12" name="Shape 10"/>
          <p:cNvSpPr/>
          <p:nvPr/>
        </p:nvSpPr>
        <p:spPr>
          <a:xfrm>
            <a:off x="548640" y="914400"/>
            <a:ext cx="2743200" cy="0"/>
          </a:xfrm>
          <a:prstGeom prst="line">
            <a:avLst/>
          </a:prstGeom>
          <a:noFill/>
          <a:ln w="19050">
            <a:solidFill>
              <a:srgbClr val="00E5FF"/>
            </a:solidFill>
            <a:prstDash val="dash"/>
          </a:ln>
        </p:spPr>
      </p:sp>
      <p:sp>
        <p:nvSpPr>
          <p:cNvPr id="13" name="Text 11"/>
          <p:cNvSpPr txBox="1"/>
          <p:nvPr/>
        </p:nvSpPr>
        <p:spPr>
          <a:xfrm>
            <a:off x="5577840" y="4590288"/>
            <a:ext cx="731520" cy="182880"/>
          </a:xfrm>
          <a:prstGeom prst="rect">
            <a:avLst/>
          </a:prstGeom>
          <a:noFill/>
          <a:ln/>
        </p:spPr>
        <p:txBody>
          <a:bodyPr wrap="square" lIns="0" tIns="0" rIns="0" bIns="0" rtlCol="0" anchor="t"/>
          <a:lstStyle/>
          <a:p>
            <a:pPr marL="0" indent="0">
              <a:buNone/>
            </a:pPr>
            <a:r>
              <a:rPr lang="en-US" sz="700" dirty="0">
                <a:solidFill>
                  <a:srgbClr val="7F8CA8"/>
                </a:solidFill>
                <a:latin typeface="JetBrains Mono" pitchFamily="34" charset="0"/>
                <a:ea typeface="JetBrains Mono" pitchFamily="34" charset="-122"/>
                <a:cs typeface="JetBrains Mono" pitchFamily="34" charset="-120"/>
              </a:rPr>
              <a:t>BATTERY</a:t>
            </a:r>
            <a:endParaRPr lang="en-US" sz="700" dirty="0"/>
          </a:p>
        </p:txBody>
      </p:sp>
      <p:sp>
        <p:nvSpPr>
          <p:cNvPr id="14" name="Shape 12"/>
          <p:cNvSpPr/>
          <p:nvPr/>
        </p:nvSpPr>
        <p:spPr>
          <a:xfrm>
            <a:off x="6217920" y="4608576"/>
            <a:ext cx="2011680" cy="128016"/>
          </a:xfrm>
          <a:prstGeom prst="rect">
            <a:avLst/>
          </a:prstGeom>
          <a:ln w="9525">
            <a:solidFill>
              <a:srgbClr val="7F8CA8"/>
            </a:solidFill>
            <a:prstDash val="solid"/>
          </a:ln>
        </p:spPr>
      </p:sp>
      <p:sp>
        <p:nvSpPr>
          <p:cNvPr id="15" name="Shape 13"/>
          <p:cNvSpPr/>
          <p:nvPr/>
        </p:nvSpPr>
        <p:spPr>
          <a:xfrm>
            <a:off x="6217920" y="4608576"/>
            <a:ext cx="1347826" cy="128016"/>
          </a:xfrm>
          <a:prstGeom prst="rect">
            <a:avLst/>
          </a:prstGeom>
          <a:solidFill>
            <a:srgbClr val="39FF88"/>
          </a:solidFill>
          <a:ln/>
        </p:spPr>
      </p:sp>
      <p:sp>
        <p:nvSpPr>
          <p:cNvPr id="16" name="Text 14"/>
          <p:cNvSpPr txBox="1"/>
          <p:nvPr/>
        </p:nvSpPr>
        <p:spPr>
          <a:xfrm>
            <a:off x="8275320" y="4590288"/>
            <a:ext cx="457200" cy="182880"/>
          </a:xfrm>
          <a:prstGeom prst="rect">
            <a:avLst/>
          </a:prstGeom>
          <a:noFill/>
          <a:ln/>
        </p:spPr>
        <p:txBody>
          <a:bodyPr wrap="square" lIns="0" tIns="0" rIns="0" bIns="0" rtlCol="0" anchor="t"/>
          <a:lstStyle/>
          <a:p>
            <a:pPr marL="0" indent="0">
              <a:buNone/>
            </a:pPr>
            <a:r>
              <a:rPr lang="en-US" sz="700" dirty="0">
                <a:solidFill>
                  <a:srgbClr val="E6EEF8"/>
                </a:solidFill>
                <a:latin typeface="JetBrains Mono" pitchFamily="34" charset="0"/>
                <a:ea typeface="JetBrains Mono" pitchFamily="34" charset="-122"/>
                <a:cs typeface="JetBrains Mono" pitchFamily="34" charset="-120"/>
              </a:rPr>
              <a:t>67%</a:t>
            </a:r>
            <a:endParaRPr lang="en-US" sz="700" dirty="0"/>
          </a:p>
        </p:txBody>
      </p:sp>
      <p:sp>
        <p:nvSpPr>
          <p:cNvPr id="17" name="Shape 15"/>
          <p:cNvSpPr/>
          <p:nvPr/>
        </p:nvSpPr>
        <p:spPr>
          <a:xfrm>
            <a:off x="548640" y="4572000"/>
            <a:ext cx="274320" cy="237744"/>
          </a:xfrm>
          <a:prstGeom prst="hexagon">
            <a:avLst/>
          </a:prstGeom>
          <a:solidFill>
            <a:srgbClr val="141B33"/>
          </a:solidFill>
          <a:ln w="12700">
            <a:solidFill>
              <a:srgbClr val="00E5FF"/>
            </a:solidFill>
            <a:prstDash val="solid"/>
          </a:ln>
        </p:spPr>
      </p:sp>
      <p:sp>
        <p:nvSpPr>
          <p:cNvPr id="18" name="Text 16"/>
          <p:cNvSpPr txBox="1"/>
          <p:nvPr/>
        </p:nvSpPr>
        <p:spPr>
          <a:xfrm>
            <a:off x="548640" y="4572000"/>
            <a:ext cx="274320" cy="237744"/>
          </a:xfrm>
          <a:prstGeom prst="rect">
            <a:avLst/>
          </a:prstGeom>
          <a:noFill/>
          <a:ln/>
        </p:spPr>
        <p:txBody>
          <a:bodyPr wrap="square" lIns="0" tIns="0" rIns="0" bIns="0" rtlCol="0" anchor="ctr"/>
          <a:lstStyle/>
          <a:p>
            <a:pPr marL="0" indent="0" algn="ctr">
              <a:buNone/>
            </a:pPr>
            <a:r>
              <a:rPr lang="en-US" sz="900" b="1" dirty="0">
                <a:solidFill>
                  <a:srgbClr val="00E5FF"/>
                </a:solidFill>
                <a:latin typeface="JetBrains Mono" pitchFamily="34" charset="0"/>
                <a:ea typeface="JetBrains Mono" pitchFamily="34" charset="-122"/>
                <a:cs typeface="JetBrains Mono" pitchFamily="34" charset="-120"/>
              </a:rPr>
              <a:t>3</a:t>
            </a:r>
            <a:endParaRPr lang="en-US" sz="900" dirty="0"/>
          </a:p>
        </p:txBody>
      </p:sp>
      <p:sp>
        <p:nvSpPr>
          <p:cNvPr id="20" name="Shape 17"/>
          <p:cNvSpPr/>
          <p:nvPr/>
        </p:nvSpPr>
        <p:spPr>
          <a:xfrm>
            <a:off x="548640" y="1234440"/>
            <a:ext cx="1645920" cy="822960"/>
          </a:xfrm>
          <a:prstGeom prst="roundRect">
            <a:avLst>
              <a:gd name="adj" fmla="val 8889"/>
            </a:avLst>
          </a:prstGeom>
          <a:solidFill>
            <a:srgbClr val="141B33"/>
          </a:solidFill>
          <a:ln w="12700">
            <a:solidFill>
              <a:srgbClr val="00E5FF"/>
            </a:solidFill>
            <a:prstDash val="solid"/>
          </a:ln>
        </p:spPr>
      </p:sp>
      <p:sp>
        <p:nvSpPr>
          <p:cNvPr id="21" name="Text 18"/>
          <p:cNvSpPr txBox="1"/>
          <p:nvPr/>
        </p:nvSpPr>
        <p:spPr>
          <a:xfrm>
            <a:off x="548640" y="1234440"/>
            <a:ext cx="1645920" cy="822960"/>
          </a:xfrm>
          <a:prstGeom prst="rect">
            <a:avLst/>
          </a:prstGeom>
          <a:noFill/>
          <a:ln/>
        </p:spPr>
        <p:txBody>
          <a:bodyPr wrap="square" lIns="0" tIns="0" rIns="0" bIns="0" rtlCol="0" anchor="ctr"/>
          <a:lstStyle/>
          <a:p>
            <a:pPr marL="0" indent="0" algn="ctr">
              <a:buNone/>
            </a:pPr>
            <a:r>
              <a:rPr lang="en-US" sz="1100" b="1" dirty="0">
                <a:solidFill>
                  <a:srgbClr val="E6EEF8"/>
                </a:solidFill>
                <a:latin typeface="Inter" pitchFamily="34" charset="0"/>
                <a:ea typeface="Inter" pitchFamily="34" charset="-122"/>
                <a:cs typeface="Inter" pitchFamily="34" charset="-120"/>
              </a:rPr>
              <a:t>React +</a:t>
            </a:r>
            <a:endParaRPr lang="en-US" sz="1100" dirty="0"/>
          </a:p>
          <a:p>
            <a:pPr marL="0" indent="0" algn="ctr">
              <a:buNone/>
            </a:pPr>
            <a:r>
              <a:rPr lang="en-US" sz="1100" b="1" dirty="0">
                <a:solidFill>
                  <a:srgbClr val="E6EEF8"/>
                </a:solidFill>
                <a:latin typeface="Inter" pitchFamily="34" charset="0"/>
                <a:ea typeface="Inter" pitchFamily="34" charset="-122"/>
                <a:cs typeface="Inter" pitchFamily="34" charset="-120"/>
              </a:rPr>
              <a:t>Leaflet</a:t>
            </a:r>
            <a:endParaRPr lang="en-US" sz="1100" dirty="0"/>
          </a:p>
        </p:txBody>
      </p:sp>
      <p:sp>
        <p:nvSpPr>
          <p:cNvPr id="22" name="Shape 19"/>
          <p:cNvSpPr/>
          <p:nvPr/>
        </p:nvSpPr>
        <p:spPr>
          <a:xfrm>
            <a:off x="2194560" y="1645920"/>
            <a:ext cx="457200" cy="0"/>
          </a:xfrm>
          <a:prstGeom prst="line">
            <a:avLst/>
          </a:prstGeom>
          <a:noFill/>
          <a:ln w="19050">
            <a:solidFill>
              <a:srgbClr val="00E5FF"/>
            </a:solidFill>
            <a:prstDash val="dash"/>
            <a:tailEnd type="triangle"/>
          </a:ln>
        </p:spPr>
      </p:sp>
      <p:sp>
        <p:nvSpPr>
          <p:cNvPr id="23" name="Shape 20"/>
          <p:cNvSpPr/>
          <p:nvPr/>
        </p:nvSpPr>
        <p:spPr>
          <a:xfrm>
            <a:off x="2651760" y="1234440"/>
            <a:ext cx="1645920" cy="822960"/>
          </a:xfrm>
          <a:prstGeom prst="roundRect">
            <a:avLst>
              <a:gd name="adj" fmla="val 8889"/>
            </a:avLst>
          </a:prstGeom>
          <a:solidFill>
            <a:srgbClr val="141B33"/>
          </a:solidFill>
          <a:ln w="12700">
            <a:solidFill>
              <a:srgbClr val="00E5FF"/>
            </a:solidFill>
            <a:prstDash val="solid"/>
          </a:ln>
        </p:spPr>
      </p:sp>
      <p:sp>
        <p:nvSpPr>
          <p:cNvPr id="24" name="Text 21"/>
          <p:cNvSpPr txBox="1"/>
          <p:nvPr/>
        </p:nvSpPr>
        <p:spPr>
          <a:xfrm>
            <a:off x="2651760" y="1234440"/>
            <a:ext cx="1645920" cy="822960"/>
          </a:xfrm>
          <a:prstGeom prst="rect">
            <a:avLst/>
          </a:prstGeom>
          <a:noFill/>
          <a:ln/>
        </p:spPr>
        <p:txBody>
          <a:bodyPr wrap="square" lIns="0" tIns="0" rIns="0" bIns="0" rtlCol="0" anchor="ctr"/>
          <a:lstStyle/>
          <a:p>
            <a:pPr marL="0" indent="0" algn="ctr">
              <a:buNone/>
            </a:pPr>
            <a:r>
              <a:rPr lang="en-US" sz="1100" b="1" dirty="0">
                <a:solidFill>
                  <a:srgbClr val="E6EEF8"/>
                </a:solidFill>
                <a:latin typeface="Inter" pitchFamily="34" charset="0"/>
                <a:ea typeface="Inter" pitchFamily="34" charset="-122"/>
                <a:cs typeface="Inter" pitchFamily="34" charset="-120"/>
              </a:rPr>
              <a:t>Flask</a:t>
            </a:r>
            <a:endParaRPr lang="en-US" sz="1100" dirty="0"/>
          </a:p>
          <a:p>
            <a:pPr marL="0" indent="0" algn="ctr">
              <a:buNone/>
            </a:pPr>
            <a:r>
              <a:rPr lang="en-US" sz="1100" b="1" dirty="0">
                <a:solidFill>
                  <a:srgbClr val="E6EEF8"/>
                </a:solidFill>
                <a:latin typeface="Inter" pitchFamily="34" charset="0"/>
                <a:ea typeface="Inter" pitchFamily="34" charset="-122"/>
                <a:cs typeface="Inter" pitchFamily="34" charset="-120"/>
              </a:rPr>
              <a:t>API</a:t>
            </a:r>
            <a:endParaRPr lang="en-US" sz="1100" dirty="0"/>
          </a:p>
        </p:txBody>
      </p:sp>
      <p:sp>
        <p:nvSpPr>
          <p:cNvPr id="25" name="Shape 22"/>
          <p:cNvSpPr/>
          <p:nvPr/>
        </p:nvSpPr>
        <p:spPr>
          <a:xfrm>
            <a:off x="4297680" y="1645920"/>
            <a:ext cx="457200" cy="0"/>
          </a:xfrm>
          <a:prstGeom prst="line">
            <a:avLst/>
          </a:prstGeom>
          <a:noFill/>
          <a:ln w="19050">
            <a:solidFill>
              <a:srgbClr val="00E5FF"/>
            </a:solidFill>
            <a:prstDash val="dash"/>
            <a:tailEnd type="triangle"/>
          </a:ln>
        </p:spPr>
      </p:sp>
      <p:sp>
        <p:nvSpPr>
          <p:cNvPr id="26" name="Shape 23"/>
          <p:cNvSpPr/>
          <p:nvPr/>
        </p:nvSpPr>
        <p:spPr>
          <a:xfrm>
            <a:off x="4754880" y="1234440"/>
            <a:ext cx="1645920" cy="822960"/>
          </a:xfrm>
          <a:prstGeom prst="roundRect">
            <a:avLst>
              <a:gd name="adj" fmla="val 8889"/>
            </a:avLst>
          </a:prstGeom>
          <a:solidFill>
            <a:srgbClr val="141B33"/>
          </a:solidFill>
          <a:ln w="12700">
            <a:solidFill>
              <a:srgbClr val="FFB300"/>
            </a:solidFill>
            <a:prstDash val="solid"/>
          </a:ln>
        </p:spPr>
      </p:sp>
      <p:sp>
        <p:nvSpPr>
          <p:cNvPr id="27" name="Text 24"/>
          <p:cNvSpPr txBox="1"/>
          <p:nvPr/>
        </p:nvSpPr>
        <p:spPr>
          <a:xfrm>
            <a:off x="4754880" y="1234440"/>
            <a:ext cx="1645920" cy="822960"/>
          </a:xfrm>
          <a:prstGeom prst="rect">
            <a:avLst/>
          </a:prstGeom>
          <a:noFill/>
          <a:ln/>
        </p:spPr>
        <p:txBody>
          <a:bodyPr wrap="square" lIns="0" tIns="0" rIns="0" bIns="0" rtlCol="0" anchor="ctr"/>
          <a:lstStyle/>
          <a:p>
            <a:pPr marL="0" indent="0" algn="ctr">
              <a:buNone/>
            </a:pPr>
            <a:r>
              <a:rPr lang="en-US" sz="1100" b="1" dirty="0">
                <a:solidFill>
                  <a:srgbClr val="E6EEF8"/>
                </a:solidFill>
                <a:latin typeface="Inter" pitchFamily="34" charset="0"/>
                <a:ea typeface="Inter" pitchFamily="34" charset="-122"/>
                <a:cs typeface="Inter" pitchFamily="34" charset="-120"/>
              </a:rPr>
              <a:t>Algorithm</a:t>
            </a:r>
            <a:endParaRPr lang="en-US" sz="1100" dirty="0"/>
          </a:p>
          <a:p>
            <a:pPr marL="0" indent="0" algn="ctr">
              <a:buNone/>
            </a:pPr>
            <a:r>
              <a:rPr lang="en-US" sz="1100" b="1" dirty="0">
                <a:solidFill>
                  <a:srgbClr val="E6EEF8"/>
                </a:solidFill>
                <a:latin typeface="Inter" pitchFamily="34" charset="0"/>
                <a:ea typeface="Inter" pitchFamily="34" charset="-122"/>
                <a:cs typeface="Inter" pitchFamily="34" charset="-120"/>
              </a:rPr>
              <a:t>Engine</a:t>
            </a:r>
            <a:endParaRPr lang="en-US" sz="1100" dirty="0"/>
          </a:p>
        </p:txBody>
      </p:sp>
      <p:sp>
        <p:nvSpPr>
          <p:cNvPr id="28" name="Shape 25"/>
          <p:cNvSpPr/>
          <p:nvPr/>
        </p:nvSpPr>
        <p:spPr>
          <a:xfrm>
            <a:off x="6400800" y="1645920"/>
            <a:ext cx="457200" cy="0"/>
          </a:xfrm>
          <a:prstGeom prst="line">
            <a:avLst/>
          </a:prstGeom>
          <a:noFill/>
          <a:ln w="19050">
            <a:solidFill>
              <a:srgbClr val="00E5FF"/>
            </a:solidFill>
            <a:prstDash val="dash"/>
            <a:tailEnd type="triangle"/>
          </a:ln>
        </p:spPr>
      </p:sp>
      <p:sp>
        <p:nvSpPr>
          <p:cNvPr id="29" name="Shape 26"/>
          <p:cNvSpPr/>
          <p:nvPr/>
        </p:nvSpPr>
        <p:spPr>
          <a:xfrm>
            <a:off x="6858000" y="1234440"/>
            <a:ext cx="1645920" cy="822960"/>
          </a:xfrm>
          <a:prstGeom prst="roundRect">
            <a:avLst>
              <a:gd name="adj" fmla="val 8889"/>
            </a:avLst>
          </a:prstGeom>
          <a:solidFill>
            <a:srgbClr val="141B33"/>
          </a:solidFill>
          <a:ln w="12700">
            <a:solidFill>
              <a:srgbClr val="00E5FF"/>
            </a:solidFill>
            <a:prstDash val="solid"/>
          </a:ln>
        </p:spPr>
      </p:sp>
      <p:sp>
        <p:nvSpPr>
          <p:cNvPr id="30" name="Text 27"/>
          <p:cNvSpPr txBox="1"/>
          <p:nvPr/>
        </p:nvSpPr>
        <p:spPr>
          <a:xfrm>
            <a:off x="6858000" y="1234440"/>
            <a:ext cx="1645920" cy="822960"/>
          </a:xfrm>
          <a:prstGeom prst="rect">
            <a:avLst/>
          </a:prstGeom>
          <a:noFill/>
          <a:ln/>
        </p:spPr>
        <p:txBody>
          <a:bodyPr wrap="square" lIns="0" tIns="0" rIns="0" bIns="0" rtlCol="0" anchor="ctr"/>
          <a:lstStyle/>
          <a:p>
            <a:pPr marL="0" indent="0" algn="ctr">
              <a:buNone/>
            </a:pPr>
            <a:r>
              <a:rPr lang="en-US" sz="1100" b="1" dirty="0">
                <a:solidFill>
                  <a:srgbClr val="E6EEF8"/>
                </a:solidFill>
                <a:latin typeface="Inter" pitchFamily="34" charset="0"/>
                <a:ea typeface="Inter" pitchFamily="34" charset="-122"/>
                <a:cs typeface="Inter" pitchFamily="34" charset="-120"/>
              </a:rPr>
              <a:t>JSON</a:t>
            </a:r>
            <a:endParaRPr lang="en-US" sz="1100" dirty="0"/>
          </a:p>
          <a:p>
            <a:pPr marL="0" indent="0" algn="ctr">
              <a:buNone/>
            </a:pPr>
            <a:r>
              <a:rPr lang="en-US" sz="1100" b="1" dirty="0">
                <a:solidFill>
                  <a:srgbClr val="E6EEF8"/>
                </a:solidFill>
                <a:latin typeface="Inter" pitchFamily="34" charset="0"/>
                <a:ea typeface="Inter" pitchFamily="34" charset="-122"/>
                <a:cs typeface="Inter" pitchFamily="34" charset="-120"/>
              </a:rPr>
              <a:t>result</a:t>
            </a:r>
            <a:endParaRPr lang="en-US" sz="1100" dirty="0"/>
          </a:p>
        </p:txBody>
      </p:sp>
      <p:sp>
        <p:nvSpPr>
          <p:cNvPr id="31" name="Text 28"/>
          <p:cNvSpPr txBox="1"/>
          <p:nvPr/>
        </p:nvSpPr>
        <p:spPr>
          <a:xfrm>
            <a:off x="3749040" y="2103120"/>
            <a:ext cx="2194560" cy="182880"/>
          </a:xfrm>
          <a:prstGeom prst="rect">
            <a:avLst/>
          </a:prstGeom>
          <a:noFill/>
          <a:ln/>
        </p:spPr>
        <p:txBody>
          <a:bodyPr wrap="square" lIns="0" tIns="0" rIns="0" bIns="0" rtlCol="0" anchor="t"/>
          <a:lstStyle/>
          <a:p>
            <a:pPr marL="0" indent="0" algn="ctr">
              <a:buNone/>
            </a:pPr>
            <a:r>
              <a:rPr lang="en-US" sz="800" dirty="0">
                <a:solidFill>
                  <a:srgbClr val="FFB300"/>
                </a:solidFill>
                <a:latin typeface="JetBrains Mono" pitchFamily="34" charset="0"/>
                <a:ea typeface="JetBrains Mono" pitchFamily="34" charset="-122"/>
                <a:cs typeface="JetBrains Mono" pitchFamily="34" charset="-120"/>
              </a:rPr>
              <a:t>Dijkstra · TSP · Priority Queue</a:t>
            </a:r>
            <a:endParaRPr lang="en-US" sz="800" dirty="0"/>
          </a:p>
        </p:txBody>
      </p:sp>
      <p:sp>
        <p:nvSpPr>
          <p:cNvPr id="32" name="Shape 29"/>
          <p:cNvSpPr/>
          <p:nvPr/>
        </p:nvSpPr>
        <p:spPr>
          <a:xfrm>
            <a:off x="548640" y="2514600"/>
            <a:ext cx="4023360" cy="1828800"/>
          </a:xfrm>
          <a:prstGeom prst="roundRect">
            <a:avLst>
              <a:gd name="adj" fmla="val 4000"/>
            </a:avLst>
          </a:prstGeom>
          <a:solidFill>
            <a:srgbClr val="141B33"/>
          </a:solidFill>
          <a:ln w="12700">
            <a:solidFill>
              <a:srgbClr val="00E5FF"/>
            </a:solidFill>
            <a:prstDash val="solid"/>
          </a:ln>
        </p:spPr>
      </p:sp>
      <p:sp>
        <p:nvSpPr>
          <p:cNvPr id="33" name="Text 30"/>
          <p:cNvSpPr txBox="1"/>
          <p:nvPr/>
        </p:nvSpPr>
        <p:spPr>
          <a:xfrm>
            <a:off x="731520" y="2606040"/>
            <a:ext cx="3657600" cy="228600"/>
          </a:xfrm>
          <a:prstGeom prst="rect">
            <a:avLst/>
          </a:prstGeom>
          <a:noFill/>
          <a:ln/>
        </p:spPr>
        <p:txBody>
          <a:bodyPr wrap="square" lIns="0" tIns="0" rIns="0" bIns="0" rtlCol="0" anchor="t"/>
          <a:lstStyle/>
          <a:p>
            <a:pPr marL="0" indent="0">
              <a:buNone/>
            </a:pPr>
            <a:r>
              <a:rPr lang="en-US" sz="900" dirty="0">
                <a:solidFill>
                  <a:srgbClr val="7F8CA8"/>
                </a:solidFill>
                <a:latin typeface="JetBrains Mono" pitchFamily="34" charset="0"/>
                <a:ea typeface="JetBrains Mono" pitchFamily="34" charset="-122"/>
                <a:cs typeface="JetBrains Mono" pitchFamily="34" charset="-120"/>
              </a:rPr>
              <a:t>ADJACENCY LIST (dist, energy)</a:t>
            </a:r>
            <a:endParaRPr lang="en-US" sz="900" dirty="0"/>
          </a:p>
        </p:txBody>
      </p:sp>
      <p:sp>
        <p:nvSpPr>
          <p:cNvPr id="34" name="Text 31"/>
          <p:cNvSpPr txBox="1"/>
          <p:nvPr/>
        </p:nvSpPr>
        <p:spPr>
          <a:xfrm>
            <a:off x="731520" y="2880360"/>
            <a:ext cx="3657600" cy="1280160"/>
          </a:xfrm>
          <a:prstGeom prst="rect">
            <a:avLst/>
          </a:prstGeom>
          <a:noFill/>
          <a:ln/>
        </p:spPr>
        <p:txBody>
          <a:bodyPr wrap="square" lIns="0" tIns="0" rIns="0" bIns="0" rtlCol="0" anchor="t"/>
          <a:lstStyle/>
          <a:p>
            <a:pPr marL="0" indent="0">
              <a:buNone/>
            </a:pPr>
            <a:r>
              <a:rPr lang="en-US" sz="1100" dirty="0">
                <a:solidFill>
                  <a:srgbClr val="00E5FF"/>
                </a:solidFill>
                <a:latin typeface="JetBrains Mono" pitchFamily="34" charset="0"/>
                <a:ea typeface="JetBrains Mono" pitchFamily="34" charset="-122"/>
                <a:cs typeface="JetBrains Mono" pitchFamily="34" charset="-120"/>
              </a:rPr>
              <a:t>D: A(10), B(25)</a:t>
            </a:r>
            <a:endParaRPr lang="en-US" sz="1100" dirty="0"/>
          </a:p>
          <a:p>
            <a:pPr marL="0" indent="0">
              <a:buNone/>
            </a:pPr>
            <a:r>
              <a:rPr lang="en-US" sz="1100" dirty="0">
                <a:solidFill>
                  <a:srgbClr val="00E5FF"/>
                </a:solidFill>
                <a:latin typeface="JetBrains Mono" pitchFamily="34" charset="0"/>
                <a:ea typeface="JetBrains Mono" pitchFamily="34" charset="-122"/>
                <a:cs typeface="JetBrains Mono" pitchFamily="34" charset="-120"/>
              </a:rPr>
              <a:t>A: D(10), B(8), C(20)</a:t>
            </a:r>
            <a:endParaRPr lang="en-US" sz="1100" dirty="0"/>
          </a:p>
          <a:p>
            <a:pPr marL="0" indent="0">
              <a:buNone/>
            </a:pPr>
            <a:r>
              <a:rPr lang="en-US" sz="1100" dirty="0">
                <a:solidFill>
                  <a:srgbClr val="00E5FF"/>
                </a:solidFill>
                <a:latin typeface="JetBrains Mono" pitchFamily="34" charset="0"/>
                <a:ea typeface="JetBrains Mono" pitchFamily="34" charset="-122"/>
                <a:cs typeface="JetBrains Mono" pitchFamily="34" charset="-120"/>
              </a:rPr>
              <a:t>B: D(25), A(8), C(7)</a:t>
            </a:r>
            <a:endParaRPr lang="en-US" sz="1100" dirty="0"/>
          </a:p>
          <a:p>
            <a:pPr marL="0" indent="0">
              <a:buNone/>
            </a:pPr>
            <a:r>
              <a:rPr lang="en-US" sz="1100" dirty="0">
                <a:solidFill>
                  <a:srgbClr val="00E5FF"/>
                </a:solidFill>
                <a:latin typeface="JetBrains Mono" pitchFamily="34" charset="0"/>
                <a:ea typeface="JetBrains Mono" pitchFamily="34" charset="-122"/>
                <a:cs typeface="JetBrains Mono" pitchFamily="34" charset="-120"/>
              </a:rPr>
              <a:t>C: A(20), B(7)</a:t>
            </a:r>
            <a:endParaRPr lang="en-US" sz="1100" dirty="0"/>
          </a:p>
        </p:txBody>
      </p:sp>
      <p:sp>
        <p:nvSpPr>
          <p:cNvPr id="35" name="Shape 32"/>
          <p:cNvSpPr/>
          <p:nvPr/>
        </p:nvSpPr>
        <p:spPr>
          <a:xfrm>
            <a:off x="4754880" y="2514600"/>
            <a:ext cx="3840480" cy="1828800"/>
          </a:xfrm>
          <a:prstGeom prst="roundRect">
            <a:avLst>
              <a:gd name="adj" fmla="val 4000"/>
            </a:avLst>
          </a:prstGeom>
          <a:solidFill>
            <a:srgbClr val="141B33"/>
          </a:solidFill>
          <a:ln w="12700">
            <a:solidFill>
              <a:srgbClr val="FFB300"/>
            </a:solidFill>
            <a:prstDash val="solid"/>
          </a:ln>
        </p:spPr>
      </p:sp>
      <p:sp>
        <p:nvSpPr>
          <p:cNvPr id="36" name="Text 33"/>
          <p:cNvSpPr txBox="1"/>
          <p:nvPr/>
        </p:nvSpPr>
        <p:spPr>
          <a:xfrm>
            <a:off x="4937760" y="2606040"/>
            <a:ext cx="3474720" cy="228600"/>
          </a:xfrm>
          <a:prstGeom prst="rect">
            <a:avLst/>
          </a:prstGeom>
          <a:noFill/>
          <a:ln/>
        </p:spPr>
        <p:txBody>
          <a:bodyPr wrap="square" lIns="0" tIns="0" rIns="0" bIns="0" rtlCol="0" anchor="t"/>
          <a:lstStyle/>
          <a:p>
            <a:pPr marL="0" indent="0">
              <a:buNone/>
            </a:pPr>
            <a:r>
              <a:rPr lang="en-US" sz="900" dirty="0">
                <a:solidFill>
                  <a:srgbClr val="7F8CA8"/>
                </a:solidFill>
                <a:latin typeface="JetBrains Mono" pitchFamily="34" charset="0"/>
                <a:ea typeface="JetBrains Mono" pitchFamily="34" charset="-122"/>
                <a:cs typeface="JetBrains Mono" pitchFamily="34" charset="-120"/>
              </a:rPr>
              <a:t>DELIVERY RECORD</a:t>
            </a:r>
            <a:endParaRPr lang="en-US" sz="900" dirty="0"/>
          </a:p>
        </p:txBody>
      </p:sp>
      <p:sp>
        <p:nvSpPr>
          <p:cNvPr id="37" name="Text 34"/>
          <p:cNvSpPr txBox="1"/>
          <p:nvPr/>
        </p:nvSpPr>
        <p:spPr>
          <a:xfrm>
            <a:off x="4937760" y="2880360"/>
            <a:ext cx="3474720" cy="1280160"/>
          </a:xfrm>
          <a:prstGeom prst="rect">
            <a:avLst/>
          </a:prstGeom>
          <a:noFill/>
          <a:ln/>
        </p:spPr>
        <p:txBody>
          <a:bodyPr wrap="square" lIns="0" tIns="0" rIns="0" bIns="0" rtlCol="0" anchor="t"/>
          <a:lstStyle/>
          <a:p>
            <a:pPr marL="0" indent="0">
              <a:buNone/>
            </a:pPr>
            <a:r>
              <a:rPr lang="en-US" sz="1100" dirty="0">
                <a:solidFill>
                  <a:srgbClr val="FFB300"/>
                </a:solidFill>
                <a:latin typeface="JetBrains Mono" pitchFamily="34" charset="0"/>
                <a:ea typeface="JetBrains Mono" pitchFamily="34" charset="-122"/>
                <a:cs typeface="JetBrains Mono" pitchFamily="34" charset="-120"/>
              </a:rPr>
              <a:t>{ id: 3,</a:t>
            </a:r>
            <a:endParaRPr lang="en-US" sz="1100" dirty="0"/>
          </a:p>
          <a:p>
            <a:pPr marL="0" indent="0">
              <a:buNone/>
            </a:pPr>
            <a:r>
              <a:rPr lang="en-US" sz="1100" dirty="0">
                <a:solidFill>
                  <a:srgbClr val="FFB300"/>
                </a:solidFill>
                <a:latin typeface="JetBrains Mono" pitchFamily="34" charset="0"/>
                <a:ea typeface="JetBrains Mono" pitchFamily="34" charset="-122"/>
                <a:cs typeface="JetBrains Mono" pitchFamily="34" charset="-120"/>
              </a:rPr>
              <a:t>  location: "C",</a:t>
            </a:r>
            <a:endParaRPr lang="en-US" sz="1100" dirty="0"/>
          </a:p>
          <a:p>
            <a:pPr marL="0" indent="0">
              <a:buNone/>
            </a:pPr>
            <a:r>
              <a:rPr lang="en-US" sz="1100" dirty="0">
                <a:solidFill>
                  <a:srgbClr val="FFB300"/>
                </a:solidFill>
                <a:latin typeface="JetBrains Mono" pitchFamily="34" charset="0"/>
                <a:ea typeface="JetBrains Mono" pitchFamily="34" charset="-122"/>
                <a:cs typeface="JetBrains Mono" pitchFamily="34" charset="-120"/>
              </a:rPr>
              <a:t>  priority: 1,</a:t>
            </a:r>
            <a:endParaRPr lang="en-US" sz="1100" dirty="0"/>
          </a:p>
          <a:p>
            <a:pPr marL="0" indent="0">
              <a:buNone/>
            </a:pPr>
            <a:r>
              <a:rPr lang="en-US" sz="1100" dirty="0">
                <a:solidFill>
                  <a:srgbClr val="FFB300"/>
                </a:solidFill>
                <a:latin typeface="JetBrains Mono" pitchFamily="34" charset="0"/>
                <a:ea typeface="JetBrains Mono" pitchFamily="34" charset="-122"/>
                <a:cs typeface="JetBrains Mono" pitchFamily="34" charset="-120"/>
              </a:rPr>
              <a:t>  weight: 2.5 }</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228600" y="228600"/>
            <a:ext cx="8686800" cy="4686300"/>
          </a:xfrm>
          <a:prstGeom prst="rect">
            <a:avLst/>
          </a:prstGeom>
          <a:ln w="9525">
            <a:solidFill>
              <a:srgbClr val="00E5FF">
                <a:alpha val="40000"/>
              </a:srgbClr>
            </a:solidFill>
            <a:prstDash val="solid"/>
          </a:ln>
        </p:spPr>
      </p:sp>
      <p:sp>
        <p:nvSpPr>
          <p:cNvPr id="3" name="Shape 1"/>
          <p:cNvSpPr/>
          <p:nvPr/>
        </p:nvSpPr>
        <p:spPr>
          <a:xfrm>
            <a:off x="228600" y="228600"/>
            <a:ext cx="228600" cy="0"/>
          </a:xfrm>
          <a:prstGeom prst="line">
            <a:avLst/>
          </a:prstGeom>
          <a:noFill/>
          <a:ln w="25400">
            <a:solidFill>
              <a:srgbClr val="00E5FF"/>
            </a:solidFill>
            <a:prstDash val="solid"/>
          </a:ln>
        </p:spPr>
      </p:sp>
      <p:sp>
        <p:nvSpPr>
          <p:cNvPr id="4" name="Shape 2"/>
          <p:cNvSpPr/>
          <p:nvPr/>
        </p:nvSpPr>
        <p:spPr>
          <a:xfrm>
            <a:off x="228600" y="228600"/>
            <a:ext cx="0" cy="228600"/>
          </a:xfrm>
          <a:prstGeom prst="line">
            <a:avLst/>
          </a:prstGeom>
          <a:noFill/>
          <a:ln w="25400">
            <a:solidFill>
              <a:srgbClr val="00E5FF"/>
            </a:solidFill>
            <a:prstDash val="solid"/>
          </a:ln>
        </p:spPr>
      </p:sp>
      <p:sp>
        <p:nvSpPr>
          <p:cNvPr id="5" name="Shape 3"/>
          <p:cNvSpPr/>
          <p:nvPr/>
        </p:nvSpPr>
        <p:spPr>
          <a:xfrm>
            <a:off x="8686800" y="228600"/>
            <a:ext cx="228600" cy="0"/>
          </a:xfrm>
          <a:prstGeom prst="line">
            <a:avLst/>
          </a:prstGeom>
          <a:noFill/>
          <a:ln w="25400">
            <a:solidFill>
              <a:srgbClr val="00E5FF"/>
            </a:solidFill>
            <a:prstDash val="solid"/>
          </a:ln>
        </p:spPr>
      </p:sp>
      <p:sp>
        <p:nvSpPr>
          <p:cNvPr id="6" name="Shape 4"/>
          <p:cNvSpPr/>
          <p:nvPr/>
        </p:nvSpPr>
        <p:spPr>
          <a:xfrm>
            <a:off x="8915400" y="228600"/>
            <a:ext cx="0" cy="228600"/>
          </a:xfrm>
          <a:prstGeom prst="line">
            <a:avLst/>
          </a:prstGeom>
          <a:noFill/>
          <a:ln w="25400">
            <a:solidFill>
              <a:srgbClr val="00E5FF"/>
            </a:solidFill>
            <a:prstDash val="solid"/>
          </a:ln>
        </p:spPr>
      </p:sp>
      <p:sp>
        <p:nvSpPr>
          <p:cNvPr id="7" name="Shape 5"/>
          <p:cNvSpPr/>
          <p:nvPr/>
        </p:nvSpPr>
        <p:spPr>
          <a:xfrm>
            <a:off x="228600" y="4914900"/>
            <a:ext cx="228600" cy="0"/>
          </a:xfrm>
          <a:prstGeom prst="line">
            <a:avLst/>
          </a:prstGeom>
          <a:noFill/>
          <a:ln w="25400">
            <a:solidFill>
              <a:srgbClr val="00E5FF"/>
            </a:solidFill>
            <a:prstDash val="solid"/>
          </a:ln>
        </p:spPr>
      </p:sp>
      <p:sp>
        <p:nvSpPr>
          <p:cNvPr id="8" name="Shape 6"/>
          <p:cNvSpPr/>
          <p:nvPr/>
        </p:nvSpPr>
        <p:spPr>
          <a:xfrm>
            <a:off x="228600" y="4686300"/>
            <a:ext cx="0" cy="228600"/>
          </a:xfrm>
          <a:prstGeom prst="line">
            <a:avLst/>
          </a:prstGeom>
          <a:noFill/>
          <a:ln w="25400">
            <a:solidFill>
              <a:srgbClr val="00E5FF"/>
            </a:solidFill>
            <a:prstDash val="solid"/>
          </a:ln>
        </p:spPr>
      </p:sp>
      <p:sp>
        <p:nvSpPr>
          <p:cNvPr id="9" name="Shape 7"/>
          <p:cNvSpPr/>
          <p:nvPr/>
        </p:nvSpPr>
        <p:spPr>
          <a:xfrm>
            <a:off x="8686800" y="4914900"/>
            <a:ext cx="228600" cy="0"/>
          </a:xfrm>
          <a:prstGeom prst="line">
            <a:avLst/>
          </a:prstGeom>
          <a:noFill/>
          <a:ln w="25400">
            <a:solidFill>
              <a:srgbClr val="00E5FF"/>
            </a:solidFill>
            <a:prstDash val="solid"/>
          </a:ln>
        </p:spPr>
      </p:sp>
      <p:sp>
        <p:nvSpPr>
          <p:cNvPr id="10" name="Shape 8"/>
          <p:cNvSpPr/>
          <p:nvPr/>
        </p:nvSpPr>
        <p:spPr>
          <a:xfrm>
            <a:off x="8915400" y="4686300"/>
            <a:ext cx="0" cy="228600"/>
          </a:xfrm>
          <a:prstGeom prst="line">
            <a:avLst/>
          </a:prstGeom>
          <a:noFill/>
          <a:ln w="25400">
            <a:solidFill>
              <a:srgbClr val="00E5FF"/>
            </a:solidFill>
            <a:prstDash val="solid"/>
          </a:ln>
        </p:spPr>
      </p:sp>
      <p:sp>
        <p:nvSpPr>
          <p:cNvPr id="11" name="Text 9"/>
          <p:cNvSpPr txBox="1"/>
          <p:nvPr/>
        </p:nvSpPr>
        <p:spPr>
          <a:xfrm>
            <a:off x="548640" y="411480"/>
            <a:ext cx="7498080" cy="457200"/>
          </a:xfrm>
          <a:prstGeom prst="rect">
            <a:avLst/>
          </a:prstGeom>
          <a:noFill/>
          <a:ln/>
        </p:spPr>
        <p:txBody>
          <a:bodyPr wrap="square" lIns="0" tIns="0" rIns="0" bIns="0" rtlCol="0" anchor="t"/>
          <a:lstStyle/>
          <a:p>
            <a:pPr marL="0" indent="0">
              <a:buNone/>
            </a:pPr>
            <a:r>
              <a:rPr lang="en-US" sz="2000" b="1" dirty="0">
                <a:solidFill>
                  <a:srgbClr val="00E5FF"/>
                </a:solidFill>
                <a:latin typeface="Orbitron" pitchFamily="34" charset="0"/>
                <a:ea typeface="Orbitron" pitchFamily="34" charset="-122"/>
                <a:cs typeface="Orbitron" pitchFamily="34" charset="-120"/>
              </a:rPr>
              <a:t>PRIORITY QUEUE &amp; DIJKSTRA</a:t>
            </a:r>
            <a:endParaRPr lang="en-US" sz="2000" dirty="0"/>
          </a:p>
        </p:txBody>
      </p:sp>
      <p:sp>
        <p:nvSpPr>
          <p:cNvPr id="12" name="Shape 10"/>
          <p:cNvSpPr/>
          <p:nvPr/>
        </p:nvSpPr>
        <p:spPr>
          <a:xfrm>
            <a:off x="548640" y="914400"/>
            <a:ext cx="2743200" cy="0"/>
          </a:xfrm>
          <a:prstGeom prst="line">
            <a:avLst/>
          </a:prstGeom>
          <a:noFill/>
          <a:ln w="19050">
            <a:solidFill>
              <a:srgbClr val="00E5FF"/>
            </a:solidFill>
            <a:prstDash val="dash"/>
          </a:ln>
        </p:spPr>
      </p:sp>
      <p:sp>
        <p:nvSpPr>
          <p:cNvPr id="13" name="Text 11"/>
          <p:cNvSpPr txBox="1"/>
          <p:nvPr/>
        </p:nvSpPr>
        <p:spPr>
          <a:xfrm>
            <a:off x="5577840" y="4590288"/>
            <a:ext cx="731520" cy="182880"/>
          </a:xfrm>
          <a:prstGeom prst="rect">
            <a:avLst/>
          </a:prstGeom>
          <a:noFill/>
          <a:ln/>
        </p:spPr>
        <p:txBody>
          <a:bodyPr wrap="square" lIns="0" tIns="0" rIns="0" bIns="0" rtlCol="0" anchor="t"/>
          <a:lstStyle/>
          <a:p>
            <a:pPr marL="0" indent="0">
              <a:buNone/>
            </a:pPr>
            <a:r>
              <a:rPr lang="en-US" sz="700" dirty="0">
                <a:solidFill>
                  <a:srgbClr val="7F8CA8"/>
                </a:solidFill>
                <a:latin typeface="JetBrains Mono" pitchFamily="34" charset="0"/>
                <a:ea typeface="JetBrains Mono" pitchFamily="34" charset="-122"/>
                <a:cs typeface="JetBrains Mono" pitchFamily="34" charset="-120"/>
              </a:rPr>
              <a:t>BATTERY</a:t>
            </a:r>
            <a:endParaRPr lang="en-US" sz="700" dirty="0"/>
          </a:p>
        </p:txBody>
      </p:sp>
      <p:sp>
        <p:nvSpPr>
          <p:cNvPr id="14" name="Shape 12"/>
          <p:cNvSpPr/>
          <p:nvPr/>
        </p:nvSpPr>
        <p:spPr>
          <a:xfrm>
            <a:off x="6217920" y="4608576"/>
            <a:ext cx="2011680" cy="128016"/>
          </a:xfrm>
          <a:prstGeom prst="rect">
            <a:avLst/>
          </a:prstGeom>
          <a:ln w="9525">
            <a:solidFill>
              <a:srgbClr val="7F8CA8"/>
            </a:solidFill>
            <a:prstDash val="solid"/>
          </a:ln>
        </p:spPr>
      </p:sp>
      <p:sp>
        <p:nvSpPr>
          <p:cNvPr id="15" name="Shape 13"/>
          <p:cNvSpPr/>
          <p:nvPr/>
        </p:nvSpPr>
        <p:spPr>
          <a:xfrm>
            <a:off x="6217920" y="4608576"/>
            <a:ext cx="1005840" cy="128016"/>
          </a:xfrm>
          <a:prstGeom prst="rect">
            <a:avLst/>
          </a:prstGeom>
          <a:solidFill>
            <a:srgbClr val="39FF88"/>
          </a:solidFill>
          <a:ln/>
        </p:spPr>
      </p:sp>
      <p:sp>
        <p:nvSpPr>
          <p:cNvPr id="16" name="Text 14"/>
          <p:cNvSpPr txBox="1"/>
          <p:nvPr/>
        </p:nvSpPr>
        <p:spPr>
          <a:xfrm>
            <a:off x="8275320" y="4590288"/>
            <a:ext cx="457200" cy="182880"/>
          </a:xfrm>
          <a:prstGeom prst="rect">
            <a:avLst/>
          </a:prstGeom>
          <a:noFill/>
          <a:ln/>
        </p:spPr>
        <p:txBody>
          <a:bodyPr wrap="square" lIns="0" tIns="0" rIns="0" bIns="0" rtlCol="0" anchor="t"/>
          <a:lstStyle/>
          <a:p>
            <a:pPr marL="0" indent="0">
              <a:buNone/>
            </a:pPr>
            <a:r>
              <a:rPr lang="en-US" sz="700" dirty="0">
                <a:solidFill>
                  <a:srgbClr val="E6EEF8"/>
                </a:solidFill>
                <a:latin typeface="JetBrains Mono" pitchFamily="34" charset="0"/>
                <a:ea typeface="JetBrains Mono" pitchFamily="34" charset="-122"/>
                <a:cs typeface="JetBrains Mono" pitchFamily="34" charset="-120"/>
              </a:rPr>
              <a:t>50%</a:t>
            </a:r>
            <a:endParaRPr lang="en-US" sz="700" dirty="0"/>
          </a:p>
        </p:txBody>
      </p:sp>
      <p:sp>
        <p:nvSpPr>
          <p:cNvPr id="17" name="Shape 15"/>
          <p:cNvSpPr/>
          <p:nvPr/>
        </p:nvSpPr>
        <p:spPr>
          <a:xfrm>
            <a:off x="548640" y="4572000"/>
            <a:ext cx="274320" cy="237744"/>
          </a:xfrm>
          <a:prstGeom prst="hexagon">
            <a:avLst/>
          </a:prstGeom>
          <a:solidFill>
            <a:srgbClr val="141B33"/>
          </a:solidFill>
          <a:ln w="12700">
            <a:solidFill>
              <a:srgbClr val="00E5FF"/>
            </a:solidFill>
            <a:prstDash val="solid"/>
          </a:ln>
        </p:spPr>
      </p:sp>
      <p:sp>
        <p:nvSpPr>
          <p:cNvPr id="18" name="Text 16"/>
          <p:cNvSpPr txBox="1"/>
          <p:nvPr/>
        </p:nvSpPr>
        <p:spPr>
          <a:xfrm>
            <a:off x="548640" y="4572000"/>
            <a:ext cx="274320" cy="237744"/>
          </a:xfrm>
          <a:prstGeom prst="rect">
            <a:avLst/>
          </a:prstGeom>
          <a:noFill/>
          <a:ln/>
        </p:spPr>
        <p:txBody>
          <a:bodyPr wrap="square" lIns="0" tIns="0" rIns="0" bIns="0" rtlCol="0" anchor="ctr"/>
          <a:lstStyle/>
          <a:p>
            <a:pPr marL="0" indent="0" algn="ctr">
              <a:buNone/>
            </a:pPr>
            <a:r>
              <a:rPr lang="en-US" sz="900" b="1" dirty="0">
                <a:solidFill>
                  <a:srgbClr val="00E5FF"/>
                </a:solidFill>
                <a:latin typeface="JetBrains Mono" pitchFamily="34" charset="0"/>
                <a:ea typeface="JetBrains Mono" pitchFamily="34" charset="-122"/>
                <a:cs typeface="JetBrains Mono" pitchFamily="34" charset="-120"/>
              </a:rPr>
              <a:t>4</a:t>
            </a:r>
            <a:endParaRPr lang="en-US" sz="900" dirty="0"/>
          </a:p>
        </p:txBody>
      </p:sp>
      <p:sp>
        <p:nvSpPr>
          <p:cNvPr id="20" name="Shape 17"/>
          <p:cNvSpPr/>
          <p:nvPr/>
        </p:nvSpPr>
        <p:spPr>
          <a:xfrm>
            <a:off x="548640" y="1097280"/>
            <a:ext cx="3931920" cy="3337560"/>
          </a:xfrm>
          <a:prstGeom prst="roundRect">
            <a:avLst>
              <a:gd name="adj" fmla="val 2192"/>
            </a:avLst>
          </a:prstGeom>
          <a:solidFill>
            <a:srgbClr val="141B33"/>
          </a:solidFill>
          <a:ln w="12700">
            <a:solidFill>
              <a:srgbClr val="FFB300"/>
            </a:solidFill>
            <a:prstDash val="solid"/>
          </a:ln>
        </p:spPr>
      </p:sp>
      <p:sp>
        <p:nvSpPr>
          <p:cNvPr id="21" name="Text 18"/>
          <p:cNvSpPr txBox="1"/>
          <p:nvPr/>
        </p:nvSpPr>
        <p:spPr>
          <a:xfrm>
            <a:off x="731520" y="1188720"/>
            <a:ext cx="3657600" cy="228600"/>
          </a:xfrm>
          <a:prstGeom prst="rect">
            <a:avLst/>
          </a:prstGeom>
          <a:noFill/>
          <a:ln/>
        </p:spPr>
        <p:txBody>
          <a:bodyPr wrap="square" lIns="0" tIns="0" rIns="0" bIns="0" rtlCol="0" anchor="t"/>
          <a:lstStyle/>
          <a:p>
            <a:pPr marL="0" indent="0">
              <a:buNone/>
            </a:pPr>
            <a:r>
              <a:rPr lang="en-US" sz="1000" dirty="0">
                <a:solidFill>
                  <a:srgbClr val="FFB300"/>
                </a:solidFill>
                <a:latin typeface="JetBrains Mono" pitchFamily="34" charset="0"/>
                <a:ea typeface="JetBrains Mono" pitchFamily="34" charset="-122"/>
                <a:cs typeface="JetBrains Mono" pitchFamily="34" charset="-120"/>
              </a:rPr>
              <a:t>PRIORITY QUEUE (min-heap)</a:t>
            </a:r>
            <a:endParaRPr lang="en-US" sz="1000" dirty="0"/>
          </a:p>
        </p:txBody>
      </p:sp>
      <p:sp>
        <p:nvSpPr>
          <p:cNvPr id="22" name="Shape 19"/>
          <p:cNvSpPr/>
          <p:nvPr/>
        </p:nvSpPr>
        <p:spPr>
          <a:xfrm>
            <a:off x="2286000" y="1508760"/>
            <a:ext cx="457200" cy="402336"/>
          </a:xfrm>
          <a:prstGeom prst="hexagon">
            <a:avLst/>
          </a:prstGeom>
          <a:solidFill>
            <a:srgbClr val="0B1020"/>
          </a:solidFill>
          <a:ln w="19050">
            <a:solidFill>
              <a:srgbClr val="FFB300"/>
            </a:solidFill>
            <a:prstDash val="solid"/>
          </a:ln>
        </p:spPr>
      </p:sp>
      <p:sp>
        <p:nvSpPr>
          <p:cNvPr id="23" name="Text 20"/>
          <p:cNvSpPr txBox="1"/>
          <p:nvPr/>
        </p:nvSpPr>
        <p:spPr>
          <a:xfrm>
            <a:off x="2286000" y="1508760"/>
            <a:ext cx="457200" cy="402336"/>
          </a:xfrm>
          <a:prstGeom prst="rect">
            <a:avLst/>
          </a:prstGeom>
          <a:noFill/>
          <a:ln/>
        </p:spPr>
        <p:txBody>
          <a:bodyPr wrap="square" lIns="0" tIns="0" rIns="0" bIns="0" rtlCol="0" anchor="ctr"/>
          <a:lstStyle/>
          <a:p>
            <a:pPr marL="0" indent="0" algn="ctr">
              <a:buNone/>
            </a:pPr>
            <a:r>
              <a:rPr lang="en-US" sz="1000" b="1" dirty="0">
                <a:solidFill>
                  <a:srgbClr val="FFB300"/>
                </a:solidFill>
                <a:latin typeface="JetBrains Mono" pitchFamily="34" charset="0"/>
                <a:ea typeface="JetBrains Mono" pitchFamily="34" charset="-122"/>
                <a:cs typeface="JetBrains Mono" pitchFamily="34" charset="-120"/>
              </a:rPr>
              <a:t>P1</a:t>
            </a:r>
            <a:endParaRPr lang="en-US" sz="1000" dirty="0"/>
          </a:p>
        </p:txBody>
      </p:sp>
      <p:sp>
        <p:nvSpPr>
          <p:cNvPr id="24" name="Shape 21"/>
          <p:cNvSpPr/>
          <p:nvPr/>
        </p:nvSpPr>
        <p:spPr>
          <a:xfrm>
            <a:off x="1463040" y="2240280"/>
            <a:ext cx="457200" cy="402336"/>
          </a:xfrm>
          <a:prstGeom prst="hexagon">
            <a:avLst/>
          </a:prstGeom>
          <a:solidFill>
            <a:srgbClr val="0B1020"/>
          </a:solidFill>
          <a:ln w="19050">
            <a:solidFill>
              <a:srgbClr val="00E5FF"/>
            </a:solidFill>
            <a:prstDash val="solid"/>
          </a:ln>
        </p:spPr>
      </p:sp>
      <p:sp>
        <p:nvSpPr>
          <p:cNvPr id="25" name="Text 22"/>
          <p:cNvSpPr txBox="1"/>
          <p:nvPr/>
        </p:nvSpPr>
        <p:spPr>
          <a:xfrm>
            <a:off x="1463040" y="2240280"/>
            <a:ext cx="457200" cy="402336"/>
          </a:xfrm>
          <a:prstGeom prst="rect">
            <a:avLst/>
          </a:prstGeom>
          <a:noFill/>
          <a:ln/>
        </p:spPr>
        <p:txBody>
          <a:bodyPr wrap="square" lIns="0" tIns="0" rIns="0" bIns="0" rtlCol="0" anchor="ctr"/>
          <a:lstStyle/>
          <a:p>
            <a:pPr marL="0" indent="0" algn="ctr">
              <a:buNone/>
            </a:pPr>
            <a:r>
              <a:rPr lang="en-US" sz="1000" b="1" dirty="0">
                <a:solidFill>
                  <a:srgbClr val="00E5FF"/>
                </a:solidFill>
                <a:latin typeface="JetBrains Mono" pitchFamily="34" charset="0"/>
                <a:ea typeface="JetBrains Mono" pitchFamily="34" charset="-122"/>
                <a:cs typeface="JetBrains Mono" pitchFamily="34" charset="-120"/>
              </a:rPr>
              <a:t>P2</a:t>
            </a:r>
            <a:endParaRPr lang="en-US" sz="1000" dirty="0"/>
          </a:p>
        </p:txBody>
      </p:sp>
      <p:sp>
        <p:nvSpPr>
          <p:cNvPr id="26" name="Shape 23"/>
          <p:cNvSpPr/>
          <p:nvPr/>
        </p:nvSpPr>
        <p:spPr>
          <a:xfrm>
            <a:off x="3108960" y="2240280"/>
            <a:ext cx="457200" cy="402336"/>
          </a:xfrm>
          <a:prstGeom prst="hexagon">
            <a:avLst/>
          </a:prstGeom>
          <a:solidFill>
            <a:srgbClr val="0B1020"/>
          </a:solidFill>
          <a:ln w="19050">
            <a:solidFill>
              <a:srgbClr val="00E5FF"/>
            </a:solidFill>
            <a:prstDash val="solid"/>
          </a:ln>
        </p:spPr>
      </p:sp>
      <p:sp>
        <p:nvSpPr>
          <p:cNvPr id="27" name="Text 24"/>
          <p:cNvSpPr txBox="1"/>
          <p:nvPr/>
        </p:nvSpPr>
        <p:spPr>
          <a:xfrm>
            <a:off x="3108960" y="2240280"/>
            <a:ext cx="457200" cy="402336"/>
          </a:xfrm>
          <a:prstGeom prst="rect">
            <a:avLst/>
          </a:prstGeom>
          <a:noFill/>
          <a:ln/>
        </p:spPr>
        <p:txBody>
          <a:bodyPr wrap="square" lIns="0" tIns="0" rIns="0" bIns="0" rtlCol="0" anchor="ctr"/>
          <a:lstStyle/>
          <a:p>
            <a:pPr marL="0" indent="0" algn="ctr">
              <a:buNone/>
            </a:pPr>
            <a:r>
              <a:rPr lang="en-US" sz="1000" b="1" dirty="0">
                <a:solidFill>
                  <a:srgbClr val="00E5FF"/>
                </a:solidFill>
                <a:latin typeface="JetBrains Mono" pitchFamily="34" charset="0"/>
                <a:ea typeface="JetBrains Mono" pitchFamily="34" charset="-122"/>
                <a:cs typeface="JetBrains Mono" pitchFamily="34" charset="-120"/>
              </a:rPr>
              <a:t>P3</a:t>
            </a:r>
            <a:endParaRPr lang="en-US" sz="1000" dirty="0"/>
          </a:p>
        </p:txBody>
      </p:sp>
      <p:sp>
        <p:nvSpPr>
          <p:cNvPr id="28" name="Shape 25"/>
          <p:cNvSpPr/>
          <p:nvPr/>
        </p:nvSpPr>
        <p:spPr>
          <a:xfrm>
            <a:off x="2377440" y="1874520"/>
            <a:ext cx="0" cy="365760"/>
          </a:xfrm>
          <a:prstGeom prst="line">
            <a:avLst/>
          </a:prstGeom>
          <a:noFill/>
          <a:ln w="12700">
            <a:solidFill>
              <a:srgbClr val="00E5FF"/>
            </a:solidFill>
            <a:prstDash val="dash"/>
          </a:ln>
        </p:spPr>
      </p:sp>
      <p:sp>
        <p:nvSpPr>
          <p:cNvPr id="29" name="Shape 26"/>
          <p:cNvSpPr/>
          <p:nvPr/>
        </p:nvSpPr>
        <p:spPr>
          <a:xfrm>
            <a:off x="2651760" y="1874520"/>
            <a:ext cx="457200" cy="365760"/>
          </a:xfrm>
          <a:prstGeom prst="line">
            <a:avLst/>
          </a:prstGeom>
          <a:noFill/>
          <a:ln w="12700">
            <a:solidFill>
              <a:srgbClr val="00E5FF"/>
            </a:solidFill>
            <a:prstDash val="dash"/>
          </a:ln>
        </p:spPr>
      </p:sp>
      <p:sp>
        <p:nvSpPr>
          <p:cNvPr id="30" name="Text 27"/>
          <p:cNvSpPr txBox="1"/>
          <p:nvPr/>
        </p:nvSpPr>
        <p:spPr>
          <a:xfrm>
            <a:off x="731520" y="3017520"/>
            <a:ext cx="3566160" cy="548640"/>
          </a:xfrm>
          <a:prstGeom prst="rect">
            <a:avLst/>
          </a:prstGeom>
          <a:noFill/>
          <a:ln/>
        </p:spPr>
        <p:txBody>
          <a:bodyPr wrap="square" lIns="0" tIns="0" rIns="0" bIns="0" rtlCol="0" anchor="t"/>
          <a:lstStyle/>
          <a:p>
            <a:pPr marL="0" indent="0">
              <a:buNone/>
            </a:pPr>
            <a:r>
              <a:rPr lang="en-US" sz="1000" dirty="0">
                <a:solidFill>
                  <a:srgbClr val="E6EEF8"/>
                </a:solidFill>
                <a:latin typeface="Inter" pitchFamily="34" charset="0"/>
                <a:ea typeface="Inter" pitchFamily="34" charset="-122"/>
                <a:cs typeface="Inter" pitchFamily="34" charset="-120"/>
              </a:rPr>
              <a:t>Rule: priority first, then lowest cost</a:t>
            </a:r>
            <a:endParaRPr lang="en-US" sz="1000" dirty="0"/>
          </a:p>
          <a:p>
            <a:pPr marL="0" indent="0">
              <a:buNone/>
            </a:pPr>
            <a:r>
              <a:rPr lang="en-US" sz="1000" dirty="0">
                <a:solidFill>
                  <a:srgbClr val="E6EEF8"/>
                </a:solidFill>
                <a:latin typeface="Inter" pitchFamily="34" charset="0"/>
                <a:ea typeface="Inter" pitchFamily="34" charset="-122"/>
                <a:cs typeface="Inter" pitchFamily="34" charset="-120"/>
              </a:rPr>
              <a:t>push / pop: O(log n)   peek: O(1)</a:t>
            </a:r>
            <a:endParaRPr lang="en-US" sz="1000" dirty="0"/>
          </a:p>
        </p:txBody>
      </p:sp>
      <p:sp>
        <p:nvSpPr>
          <p:cNvPr id="31" name="Text 28"/>
          <p:cNvSpPr txBox="1"/>
          <p:nvPr/>
        </p:nvSpPr>
        <p:spPr>
          <a:xfrm>
            <a:off x="731520" y="3657600"/>
            <a:ext cx="3566160" cy="548640"/>
          </a:xfrm>
          <a:prstGeom prst="rect">
            <a:avLst/>
          </a:prstGeom>
          <a:noFill/>
          <a:ln/>
        </p:spPr>
        <p:txBody>
          <a:bodyPr wrap="square" lIns="0" tIns="0" rIns="0" bIns="0" rtlCol="0" anchor="t"/>
          <a:lstStyle/>
          <a:p>
            <a:pPr marL="0" indent="0">
              <a:buNone/>
            </a:pPr>
            <a:r>
              <a:rPr lang="en-US" sz="850" dirty="0">
                <a:solidFill>
                  <a:srgbClr val="39FF88"/>
                </a:solidFill>
                <a:latin typeface="JetBrains Mono" pitchFamily="34" charset="0"/>
                <a:ea typeface="JetBrains Mono" pitchFamily="34" charset="-122"/>
                <a:cs typeface="JetBrains Mono" pitchFamily="34" charset="-120"/>
              </a:rPr>
              <a:t>heapq.heappush(pq,(prio,cost,id))</a:t>
            </a:r>
            <a:endParaRPr lang="en-US" sz="850" dirty="0"/>
          </a:p>
          <a:p>
            <a:pPr marL="0" indent="0">
              <a:buNone/>
            </a:pPr>
            <a:r>
              <a:rPr lang="en-US" sz="850" dirty="0">
                <a:solidFill>
                  <a:srgbClr val="39FF88"/>
                </a:solidFill>
                <a:latin typeface="JetBrains Mono" pitchFamily="34" charset="0"/>
                <a:ea typeface="JetBrains Mono" pitchFamily="34" charset="-122"/>
                <a:cs typeface="JetBrains Mono" pitchFamily="34" charset="-120"/>
              </a:rPr>
              <a:t>prio,cost,id = heapq.heappop(pq)</a:t>
            </a:r>
            <a:endParaRPr lang="en-US" sz="850" dirty="0"/>
          </a:p>
        </p:txBody>
      </p:sp>
      <p:sp>
        <p:nvSpPr>
          <p:cNvPr id="32" name="Shape 29"/>
          <p:cNvSpPr/>
          <p:nvPr/>
        </p:nvSpPr>
        <p:spPr>
          <a:xfrm>
            <a:off x="4663440" y="1097280"/>
            <a:ext cx="3931920" cy="3337560"/>
          </a:xfrm>
          <a:prstGeom prst="roundRect">
            <a:avLst>
              <a:gd name="adj" fmla="val 2192"/>
            </a:avLst>
          </a:prstGeom>
          <a:solidFill>
            <a:srgbClr val="141B33"/>
          </a:solidFill>
          <a:ln w="12700">
            <a:solidFill>
              <a:srgbClr val="00E5FF"/>
            </a:solidFill>
            <a:prstDash val="solid"/>
          </a:ln>
        </p:spPr>
      </p:sp>
      <p:sp>
        <p:nvSpPr>
          <p:cNvPr id="33" name="Text 30"/>
          <p:cNvSpPr txBox="1"/>
          <p:nvPr/>
        </p:nvSpPr>
        <p:spPr>
          <a:xfrm>
            <a:off x="4846320" y="1188720"/>
            <a:ext cx="3657600" cy="228600"/>
          </a:xfrm>
          <a:prstGeom prst="rect">
            <a:avLst/>
          </a:prstGeom>
          <a:noFill/>
          <a:ln/>
        </p:spPr>
        <p:txBody>
          <a:bodyPr wrap="square" lIns="0" tIns="0" rIns="0" bIns="0" rtlCol="0" anchor="t"/>
          <a:lstStyle/>
          <a:p>
            <a:pPr marL="0" indent="0">
              <a:buNone/>
            </a:pPr>
            <a:r>
              <a:rPr lang="en-US" sz="1000" dirty="0">
                <a:solidFill>
                  <a:srgbClr val="00E5FF"/>
                </a:solidFill>
                <a:latin typeface="JetBrains Mono" pitchFamily="34" charset="0"/>
                <a:ea typeface="JetBrains Mono" pitchFamily="34" charset="-122"/>
                <a:cs typeface="JetBrains Mono" pitchFamily="34" charset="-120"/>
              </a:rPr>
              <a:t>DIJKSTRA  O((V+E) log V)</a:t>
            </a:r>
            <a:endParaRPr lang="en-US" sz="1000" dirty="0"/>
          </a:p>
        </p:txBody>
      </p:sp>
      <p:sp>
        <p:nvSpPr>
          <p:cNvPr id="34" name="Text 31"/>
          <p:cNvSpPr txBox="1"/>
          <p:nvPr/>
        </p:nvSpPr>
        <p:spPr>
          <a:xfrm>
            <a:off x="4846320" y="1508760"/>
            <a:ext cx="3657600" cy="1188720"/>
          </a:xfrm>
          <a:prstGeom prst="rect">
            <a:avLst/>
          </a:prstGeom>
          <a:noFill/>
          <a:ln/>
        </p:spPr>
        <p:txBody>
          <a:bodyPr wrap="square" lIns="0" tIns="0" rIns="0" bIns="0" rtlCol="0" anchor="t"/>
          <a:lstStyle/>
          <a:p>
            <a:pPr marL="0" indent="0">
              <a:buNone/>
            </a:pPr>
            <a:r>
              <a:rPr lang="en-US" sz="900" dirty="0">
                <a:solidFill>
                  <a:srgbClr val="39FF88"/>
                </a:solidFill>
                <a:latin typeface="JetBrains Mono" pitchFamily="34" charset="0"/>
                <a:ea typeface="JetBrains Mono" pitchFamily="34" charset="-122"/>
                <a:cs typeface="JetBrains Mono" pitchFamily="34" charset="-120"/>
              </a:rPr>
              <a:t>dist[D]=0; push (0,D)</a:t>
            </a:r>
            <a:endParaRPr lang="en-US" sz="900" dirty="0"/>
          </a:p>
          <a:p>
            <a:pPr marL="0" indent="0">
              <a:buNone/>
            </a:pPr>
            <a:r>
              <a:rPr lang="en-US" sz="900" dirty="0">
                <a:solidFill>
                  <a:srgbClr val="39FF88"/>
                </a:solidFill>
                <a:latin typeface="JetBrains Mono" pitchFamily="34" charset="0"/>
                <a:ea typeface="JetBrains Mono" pitchFamily="34" charset="-122"/>
                <a:cs typeface="JetBrains Mono" pitchFamily="34" charset="-120"/>
              </a:rPr>
              <a:t>while pq: u=pop min</a:t>
            </a:r>
            <a:endParaRPr lang="en-US" sz="900" dirty="0"/>
          </a:p>
          <a:p>
            <a:pPr marL="0" indent="0">
              <a:buNone/>
            </a:pPr>
            <a:r>
              <a:rPr lang="en-US" sz="900" dirty="0">
                <a:solidFill>
                  <a:srgbClr val="39FF88"/>
                </a:solidFill>
                <a:latin typeface="JetBrains Mono" pitchFamily="34" charset="0"/>
                <a:ea typeface="JetBrains Mono" pitchFamily="34" charset="-122"/>
                <a:cs typeface="JetBrains Mono" pitchFamily="34" charset="-120"/>
              </a:rPr>
              <a:t>  for (v,w) in adj[u]:</a:t>
            </a:r>
            <a:endParaRPr lang="en-US" sz="900" dirty="0"/>
          </a:p>
          <a:p>
            <a:pPr marL="0" indent="0">
              <a:buNone/>
            </a:pPr>
            <a:r>
              <a:rPr lang="en-US" sz="900" dirty="0">
                <a:solidFill>
                  <a:srgbClr val="39FF88"/>
                </a:solidFill>
                <a:latin typeface="JetBrains Mono" pitchFamily="34" charset="0"/>
                <a:ea typeface="JetBrains Mono" pitchFamily="34" charset="-122"/>
                <a:cs typeface="JetBrains Mono" pitchFamily="34" charset="-120"/>
              </a:rPr>
              <a:t>    if dist[u]+w &lt; dist[v]:</a:t>
            </a:r>
            <a:endParaRPr lang="en-US" sz="900" dirty="0"/>
          </a:p>
          <a:p>
            <a:pPr marL="0" indent="0">
              <a:buNone/>
            </a:pPr>
            <a:r>
              <a:rPr lang="en-US" sz="900" dirty="0">
                <a:solidFill>
                  <a:srgbClr val="39FF88"/>
                </a:solidFill>
                <a:latin typeface="JetBrains Mono" pitchFamily="34" charset="0"/>
                <a:ea typeface="JetBrains Mono" pitchFamily="34" charset="-122"/>
                <a:cs typeface="JetBrains Mono" pitchFamily="34" charset="-120"/>
              </a:rPr>
              <a:t>      dist[v]=dist[u]+w; push</a:t>
            </a:r>
            <a:endParaRPr lang="en-US" sz="900" dirty="0"/>
          </a:p>
        </p:txBody>
      </p:sp>
      <p:sp>
        <p:nvSpPr>
          <p:cNvPr id="35" name="Text 32"/>
          <p:cNvSpPr txBox="1"/>
          <p:nvPr/>
        </p:nvSpPr>
        <p:spPr>
          <a:xfrm>
            <a:off x="4846320" y="2834640"/>
            <a:ext cx="3657600" cy="685800"/>
          </a:xfrm>
          <a:prstGeom prst="rect">
            <a:avLst/>
          </a:prstGeom>
          <a:noFill/>
          <a:ln/>
        </p:spPr>
        <p:txBody>
          <a:bodyPr wrap="square" lIns="0" tIns="0" rIns="0" bIns="0" rtlCol="0" anchor="t"/>
          <a:lstStyle/>
          <a:p>
            <a:pPr marL="0" indent="0">
              <a:buNone/>
            </a:pPr>
            <a:r>
              <a:rPr lang="en-US" sz="900" dirty="0">
                <a:solidFill>
                  <a:srgbClr val="E6EEF8"/>
                </a:solidFill>
                <a:latin typeface="JetBrains Mono" pitchFamily="34" charset="0"/>
                <a:ea typeface="JetBrains Mono" pitchFamily="34" charset="-122"/>
                <a:cs typeface="JetBrains Mono" pitchFamily="34" charset="-120"/>
              </a:rPr>
              <a:t>Tentative costs from D:</a:t>
            </a:r>
            <a:endParaRPr lang="en-US" sz="900" dirty="0"/>
          </a:p>
          <a:p>
            <a:pPr marL="0" indent="0">
              <a:buNone/>
            </a:pPr>
            <a:r>
              <a:rPr lang="en-US" sz="900" dirty="0">
                <a:solidFill>
                  <a:srgbClr val="E6EEF8"/>
                </a:solidFill>
                <a:latin typeface="JetBrains Mono" pitchFamily="34" charset="0"/>
                <a:ea typeface="JetBrains Mono" pitchFamily="34" charset="-122"/>
                <a:cs typeface="JetBrains Mono" pitchFamily="34" charset="-120"/>
              </a:rPr>
              <a:t>A=10   B=25→18 (via A)   C=25 (via B)</a:t>
            </a:r>
            <a:endParaRPr lang="en-US" sz="900" dirty="0"/>
          </a:p>
          <a:p>
            <a:pPr marL="0" indent="0">
              <a:buNone/>
            </a:pPr>
            <a:r>
              <a:rPr lang="en-US" sz="900" dirty="0">
                <a:solidFill>
                  <a:srgbClr val="E6EEF8"/>
                </a:solidFill>
                <a:latin typeface="JetBrains Mono" pitchFamily="34" charset="0"/>
                <a:ea typeface="JetBrains Mono" pitchFamily="34" charset="-122"/>
                <a:cs typeface="JetBrains Mono" pitchFamily="34" charset="-120"/>
              </a:rPr>
              <a:t>Path: D → A → B → C</a:t>
            </a:r>
            <a:endParaRPr lang="en-US" sz="900" dirty="0"/>
          </a:p>
        </p:txBody>
      </p:sp>
      <p:sp>
        <p:nvSpPr>
          <p:cNvPr id="36" name="Text 33"/>
          <p:cNvSpPr txBox="1"/>
          <p:nvPr/>
        </p:nvSpPr>
        <p:spPr>
          <a:xfrm>
            <a:off x="4846320" y="3657600"/>
            <a:ext cx="3566160" cy="548640"/>
          </a:xfrm>
          <a:prstGeom prst="rect">
            <a:avLst/>
          </a:prstGeom>
          <a:noFill/>
          <a:ln/>
        </p:spPr>
        <p:txBody>
          <a:bodyPr wrap="square" lIns="0" tIns="0" rIns="0" bIns="0" rtlCol="0" anchor="t"/>
          <a:lstStyle/>
          <a:p>
            <a:pPr marL="0" indent="0">
              <a:buNone/>
            </a:pPr>
            <a:r>
              <a:rPr lang="en-US" sz="950" dirty="0">
                <a:solidFill>
                  <a:srgbClr val="FFB300"/>
                </a:solidFill>
                <a:latin typeface="Inter" pitchFamily="34" charset="0"/>
                <a:ea typeface="Inter" pitchFamily="34" charset="-122"/>
                <a:cs typeface="Inter" pitchFamily="34" charset="-120"/>
              </a:rPr>
              <a:t>Why w ≥ 0? A negative edge could undercut a settled node.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228600" y="228600"/>
            <a:ext cx="8686800" cy="4686300"/>
          </a:xfrm>
          <a:prstGeom prst="rect">
            <a:avLst/>
          </a:prstGeom>
          <a:ln w="9525">
            <a:solidFill>
              <a:srgbClr val="00E5FF">
                <a:alpha val="40000"/>
              </a:srgbClr>
            </a:solidFill>
            <a:prstDash val="solid"/>
          </a:ln>
        </p:spPr>
      </p:sp>
      <p:sp>
        <p:nvSpPr>
          <p:cNvPr id="3" name="Shape 1"/>
          <p:cNvSpPr/>
          <p:nvPr/>
        </p:nvSpPr>
        <p:spPr>
          <a:xfrm>
            <a:off x="228600" y="228600"/>
            <a:ext cx="228600" cy="0"/>
          </a:xfrm>
          <a:prstGeom prst="line">
            <a:avLst/>
          </a:prstGeom>
          <a:noFill/>
          <a:ln w="25400">
            <a:solidFill>
              <a:srgbClr val="00E5FF"/>
            </a:solidFill>
            <a:prstDash val="solid"/>
          </a:ln>
        </p:spPr>
      </p:sp>
      <p:sp>
        <p:nvSpPr>
          <p:cNvPr id="4" name="Shape 2"/>
          <p:cNvSpPr/>
          <p:nvPr/>
        </p:nvSpPr>
        <p:spPr>
          <a:xfrm>
            <a:off x="228600" y="228600"/>
            <a:ext cx="0" cy="228600"/>
          </a:xfrm>
          <a:prstGeom prst="line">
            <a:avLst/>
          </a:prstGeom>
          <a:noFill/>
          <a:ln w="25400">
            <a:solidFill>
              <a:srgbClr val="00E5FF"/>
            </a:solidFill>
            <a:prstDash val="solid"/>
          </a:ln>
        </p:spPr>
      </p:sp>
      <p:sp>
        <p:nvSpPr>
          <p:cNvPr id="5" name="Shape 3"/>
          <p:cNvSpPr/>
          <p:nvPr/>
        </p:nvSpPr>
        <p:spPr>
          <a:xfrm>
            <a:off x="8686800" y="228600"/>
            <a:ext cx="228600" cy="0"/>
          </a:xfrm>
          <a:prstGeom prst="line">
            <a:avLst/>
          </a:prstGeom>
          <a:noFill/>
          <a:ln w="25400">
            <a:solidFill>
              <a:srgbClr val="00E5FF"/>
            </a:solidFill>
            <a:prstDash val="solid"/>
          </a:ln>
        </p:spPr>
      </p:sp>
      <p:sp>
        <p:nvSpPr>
          <p:cNvPr id="6" name="Shape 4"/>
          <p:cNvSpPr/>
          <p:nvPr/>
        </p:nvSpPr>
        <p:spPr>
          <a:xfrm>
            <a:off x="8915400" y="228600"/>
            <a:ext cx="0" cy="228600"/>
          </a:xfrm>
          <a:prstGeom prst="line">
            <a:avLst/>
          </a:prstGeom>
          <a:noFill/>
          <a:ln w="25400">
            <a:solidFill>
              <a:srgbClr val="00E5FF"/>
            </a:solidFill>
            <a:prstDash val="solid"/>
          </a:ln>
        </p:spPr>
      </p:sp>
      <p:sp>
        <p:nvSpPr>
          <p:cNvPr id="7" name="Shape 5"/>
          <p:cNvSpPr/>
          <p:nvPr/>
        </p:nvSpPr>
        <p:spPr>
          <a:xfrm>
            <a:off x="228600" y="4914900"/>
            <a:ext cx="228600" cy="0"/>
          </a:xfrm>
          <a:prstGeom prst="line">
            <a:avLst/>
          </a:prstGeom>
          <a:noFill/>
          <a:ln w="25400">
            <a:solidFill>
              <a:srgbClr val="00E5FF"/>
            </a:solidFill>
            <a:prstDash val="solid"/>
          </a:ln>
        </p:spPr>
      </p:sp>
      <p:sp>
        <p:nvSpPr>
          <p:cNvPr id="8" name="Shape 6"/>
          <p:cNvSpPr/>
          <p:nvPr/>
        </p:nvSpPr>
        <p:spPr>
          <a:xfrm>
            <a:off x="228600" y="4686300"/>
            <a:ext cx="0" cy="228600"/>
          </a:xfrm>
          <a:prstGeom prst="line">
            <a:avLst/>
          </a:prstGeom>
          <a:noFill/>
          <a:ln w="25400">
            <a:solidFill>
              <a:srgbClr val="00E5FF"/>
            </a:solidFill>
            <a:prstDash val="solid"/>
          </a:ln>
        </p:spPr>
      </p:sp>
      <p:sp>
        <p:nvSpPr>
          <p:cNvPr id="9" name="Shape 7"/>
          <p:cNvSpPr/>
          <p:nvPr/>
        </p:nvSpPr>
        <p:spPr>
          <a:xfrm>
            <a:off x="8686800" y="4914900"/>
            <a:ext cx="228600" cy="0"/>
          </a:xfrm>
          <a:prstGeom prst="line">
            <a:avLst/>
          </a:prstGeom>
          <a:noFill/>
          <a:ln w="25400">
            <a:solidFill>
              <a:srgbClr val="00E5FF"/>
            </a:solidFill>
            <a:prstDash val="solid"/>
          </a:ln>
        </p:spPr>
      </p:sp>
      <p:sp>
        <p:nvSpPr>
          <p:cNvPr id="10" name="Shape 8"/>
          <p:cNvSpPr/>
          <p:nvPr/>
        </p:nvSpPr>
        <p:spPr>
          <a:xfrm>
            <a:off x="8915400" y="4686300"/>
            <a:ext cx="0" cy="228600"/>
          </a:xfrm>
          <a:prstGeom prst="line">
            <a:avLst/>
          </a:prstGeom>
          <a:noFill/>
          <a:ln w="25400">
            <a:solidFill>
              <a:srgbClr val="00E5FF"/>
            </a:solidFill>
            <a:prstDash val="solid"/>
          </a:ln>
        </p:spPr>
      </p:sp>
      <p:sp>
        <p:nvSpPr>
          <p:cNvPr id="11" name="Text 9"/>
          <p:cNvSpPr txBox="1"/>
          <p:nvPr/>
        </p:nvSpPr>
        <p:spPr>
          <a:xfrm>
            <a:off x="548640" y="411480"/>
            <a:ext cx="7498080" cy="457200"/>
          </a:xfrm>
          <a:prstGeom prst="rect">
            <a:avLst/>
          </a:prstGeom>
          <a:noFill/>
          <a:ln/>
        </p:spPr>
        <p:txBody>
          <a:bodyPr wrap="square" lIns="0" tIns="0" rIns="0" bIns="0" rtlCol="0" anchor="t"/>
          <a:lstStyle/>
          <a:p>
            <a:pPr marL="0" indent="0">
              <a:buNone/>
            </a:pPr>
            <a:r>
              <a:rPr lang="en-US" sz="2000" b="1" dirty="0">
                <a:solidFill>
                  <a:srgbClr val="00E5FF"/>
                </a:solidFill>
                <a:latin typeface="Orbitron" pitchFamily="34" charset="0"/>
                <a:ea typeface="Orbitron" pitchFamily="34" charset="-122"/>
                <a:cs typeface="Orbitron" pitchFamily="34" charset="-120"/>
              </a:rPr>
              <a:t>TSP: VISIT ORDER &amp; RETURN TO DEPOT</a:t>
            </a:r>
            <a:endParaRPr lang="en-US" sz="2000" dirty="0"/>
          </a:p>
        </p:txBody>
      </p:sp>
      <p:sp>
        <p:nvSpPr>
          <p:cNvPr id="12" name="Shape 10"/>
          <p:cNvSpPr/>
          <p:nvPr/>
        </p:nvSpPr>
        <p:spPr>
          <a:xfrm>
            <a:off x="548640" y="914400"/>
            <a:ext cx="2743200" cy="0"/>
          </a:xfrm>
          <a:prstGeom prst="line">
            <a:avLst/>
          </a:prstGeom>
          <a:noFill/>
          <a:ln w="19050">
            <a:solidFill>
              <a:srgbClr val="00E5FF"/>
            </a:solidFill>
            <a:prstDash val="dash"/>
          </a:ln>
        </p:spPr>
      </p:sp>
      <p:sp>
        <p:nvSpPr>
          <p:cNvPr id="13" name="Text 11"/>
          <p:cNvSpPr txBox="1"/>
          <p:nvPr/>
        </p:nvSpPr>
        <p:spPr>
          <a:xfrm>
            <a:off x="5577840" y="4590288"/>
            <a:ext cx="731520" cy="182880"/>
          </a:xfrm>
          <a:prstGeom prst="rect">
            <a:avLst/>
          </a:prstGeom>
          <a:noFill/>
          <a:ln/>
        </p:spPr>
        <p:txBody>
          <a:bodyPr wrap="square" lIns="0" tIns="0" rIns="0" bIns="0" rtlCol="0" anchor="t"/>
          <a:lstStyle/>
          <a:p>
            <a:pPr marL="0" indent="0">
              <a:buNone/>
            </a:pPr>
            <a:r>
              <a:rPr lang="en-US" sz="700" dirty="0">
                <a:solidFill>
                  <a:srgbClr val="7F8CA8"/>
                </a:solidFill>
                <a:latin typeface="JetBrains Mono" pitchFamily="34" charset="0"/>
                <a:ea typeface="JetBrains Mono" pitchFamily="34" charset="-122"/>
                <a:cs typeface="JetBrains Mono" pitchFamily="34" charset="-120"/>
              </a:rPr>
              <a:t>BATTERY</a:t>
            </a:r>
            <a:endParaRPr lang="en-US" sz="700" dirty="0"/>
          </a:p>
        </p:txBody>
      </p:sp>
      <p:sp>
        <p:nvSpPr>
          <p:cNvPr id="14" name="Shape 12"/>
          <p:cNvSpPr/>
          <p:nvPr/>
        </p:nvSpPr>
        <p:spPr>
          <a:xfrm>
            <a:off x="6217920" y="4608576"/>
            <a:ext cx="2011680" cy="128016"/>
          </a:xfrm>
          <a:prstGeom prst="rect">
            <a:avLst/>
          </a:prstGeom>
          <a:ln w="9525">
            <a:solidFill>
              <a:srgbClr val="7F8CA8"/>
            </a:solidFill>
            <a:prstDash val="solid"/>
          </a:ln>
        </p:spPr>
      </p:sp>
      <p:sp>
        <p:nvSpPr>
          <p:cNvPr id="15" name="Shape 13"/>
          <p:cNvSpPr/>
          <p:nvPr/>
        </p:nvSpPr>
        <p:spPr>
          <a:xfrm>
            <a:off x="6217920" y="4608576"/>
            <a:ext cx="663854" cy="128016"/>
          </a:xfrm>
          <a:prstGeom prst="rect">
            <a:avLst/>
          </a:prstGeom>
          <a:solidFill>
            <a:srgbClr val="39FF88"/>
          </a:solidFill>
          <a:ln/>
        </p:spPr>
      </p:sp>
      <p:sp>
        <p:nvSpPr>
          <p:cNvPr id="16" name="Text 14"/>
          <p:cNvSpPr txBox="1"/>
          <p:nvPr/>
        </p:nvSpPr>
        <p:spPr>
          <a:xfrm>
            <a:off x="8275320" y="4590288"/>
            <a:ext cx="457200" cy="182880"/>
          </a:xfrm>
          <a:prstGeom prst="rect">
            <a:avLst/>
          </a:prstGeom>
          <a:noFill/>
          <a:ln/>
        </p:spPr>
        <p:txBody>
          <a:bodyPr wrap="square" lIns="0" tIns="0" rIns="0" bIns="0" rtlCol="0" anchor="t"/>
          <a:lstStyle/>
          <a:p>
            <a:pPr marL="0" indent="0">
              <a:buNone/>
            </a:pPr>
            <a:r>
              <a:rPr lang="en-US" sz="700" dirty="0">
                <a:solidFill>
                  <a:srgbClr val="E6EEF8"/>
                </a:solidFill>
                <a:latin typeface="JetBrains Mono" pitchFamily="34" charset="0"/>
                <a:ea typeface="JetBrains Mono" pitchFamily="34" charset="-122"/>
                <a:cs typeface="JetBrains Mono" pitchFamily="34" charset="-120"/>
              </a:rPr>
              <a:t>33%</a:t>
            </a:r>
            <a:endParaRPr lang="en-US" sz="700" dirty="0"/>
          </a:p>
        </p:txBody>
      </p:sp>
      <p:sp>
        <p:nvSpPr>
          <p:cNvPr id="17" name="Shape 15"/>
          <p:cNvSpPr/>
          <p:nvPr/>
        </p:nvSpPr>
        <p:spPr>
          <a:xfrm>
            <a:off x="548640" y="4572000"/>
            <a:ext cx="274320" cy="237744"/>
          </a:xfrm>
          <a:prstGeom prst="hexagon">
            <a:avLst/>
          </a:prstGeom>
          <a:solidFill>
            <a:srgbClr val="141B33"/>
          </a:solidFill>
          <a:ln w="12700">
            <a:solidFill>
              <a:srgbClr val="00E5FF"/>
            </a:solidFill>
            <a:prstDash val="solid"/>
          </a:ln>
        </p:spPr>
      </p:sp>
      <p:sp>
        <p:nvSpPr>
          <p:cNvPr id="18" name="Text 16"/>
          <p:cNvSpPr txBox="1"/>
          <p:nvPr/>
        </p:nvSpPr>
        <p:spPr>
          <a:xfrm>
            <a:off x="548640" y="4572000"/>
            <a:ext cx="274320" cy="237744"/>
          </a:xfrm>
          <a:prstGeom prst="rect">
            <a:avLst/>
          </a:prstGeom>
          <a:noFill/>
          <a:ln/>
        </p:spPr>
        <p:txBody>
          <a:bodyPr wrap="square" lIns="0" tIns="0" rIns="0" bIns="0" rtlCol="0" anchor="ctr"/>
          <a:lstStyle/>
          <a:p>
            <a:pPr marL="0" indent="0" algn="ctr">
              <a:buNone/>
            </a:pPr>
            <a:r>
              <a:rPr lang="en-US" sz="900" b="1" dirty="0">
                <a:solidFill>
                  <a:srgbClr val="00E5FF"/>
                </a:solidFill>
                <a:latin typeface="JetBrains Mono" pitchFamily="34" charset="0"/>
                <a:ea typeface="JetBrains Mono" pitchFamily="34" charset="-122"/>
                <a:cs typeface="JetBrains Mono" pitchFamily="34" charset="-120"/>
              </a:rPr>
              <a:t>5</a:t>
            </a:r>
            <a:endParaRPr lang="en-US" sz="900" dirty="0"/>
          </a:p>
        </p:txBody>
      </p:sp>
      <p:sp>
        <p:nvSpPr>
          <p:cNvPr id="20" name="Text 17"/>
          <p:cNvSpPr txBox="1"/>
          <p:nvPr/>
        </p:nvSpPr>
        <p:spPr>
          <a:xfrm>
            <a:off x="548640" y="1097280"/>
            <a:ext cx="7863840" cy="274320"/>
          </a:xfrm>
          <a:prstGeom prst="rect">
            <a:avLst/>
          </a:prstGeom>
          <a:noFill/>
          <a:ln/>
        </p:spPr>
        <p:txBody>
          <a:bodyPr wrap="square" lIns="0" tIns="0" rIns="0" bIns="0" rtlCol="0" anchor="t"/>
          <a:lstStyle/>
          <a:p>
            <a:pPr marL="0" indent="0">
              <a:buNone/>
            </a:pPr>
            <a:r>
              <a:rPr lang="en-US" sz="1200" dirty="0">
                <a:solidFill>
                  <a:srgbClr val="39FF88"/>
                </a:solidFill>
                <a:latin typeface="Inter" pitchFamily="34" charset="0"/>
                <a:ea typeface="Inter" pitchFamily="34" charset="-122"/>
                <a:cs typeface="Inter" pitchFamily="34" charset="-120"/>
              </a:rPr>
              <a:t>Start at depot · visit each point once · return to depot</a:t>
            </a:r>
            <a:endParaRPr lang="en-US" sz="1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8046720" cy="1828800"/>
        </p:xfrm>
        <a:graphic>
          <a:graphicData uri="http://schemas.openxmlformats.org/drawingml/2006/table">
            <a:tbl>
              <a:tblPr/>
              <a:tblGrid>
                <a:gridCol w="219456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457200">
                <a:tc>
                  <a:txBody>
                    <a:bodyPr/>
                    <a:lstStyle/>
                    <a:p>
                      <a:pPr marL="0" indent="0">
                        <a:buNone/>
                      </a:pPr>
                      <a:r>
                        <a:rPr lang="en-US" sz="1000" b="1" dirty="0">
                          <a:solidFill>
                            <a:srgbClr val="0B1020"/>
                          </a:solidFill>
                          <a:latin typeface="JetBrains Mono" pitchFamily="34" charset="0"/>
                          <a:ea typeface="JetBrains Mono" pitchFamily="34" charset="-122"/>
                          <a:cs typeface="JetBrains Mono" pitchFamily="34" charset="-120"/>
                        </a:rPr>
                        <a:t>Method</a:t>
                      </a:r>
                      <a:endParaRPr lang="en-US" sz="1000" dirty="0">
                        <a:latin typeface="JetBrains Mono" charset="0"/>
                        <a:ea typeface="JetBrains Mono" charset="0"/>
                        <a:cs typeface="JetBrains Mono" charset="0"/>
                      </a:endParaRPr>
                    </a:p>
                  </a:txBody>
                  <a:tcPr>
                    <a:lnL w="12700" cap="flat" cmpd="sng" algn="ctr">
                      <a:solidFill>
                        <a:srgbClr val="26304F"/>
                      </a:solidFill>
                      <a:prstDash val="solid"/>
                      <a:round/>
                      <a:headEnd type="none" w="med" len="med"/>
                      <a:tailEnd type="none" w="med" len="med"/>
                    </a:lnL>
                    <a:lnR w="12700" cap="flat" cmpd="sng" algn="ctr">
                      <a:solidFill>
                        <a:srgbClr val="26304F"/>
                      </a:solidFill>
                      <a:prstDash val="solid"/>
                      <a:round/>
                      <a:headEnd type="none" w="med" len="med"/>
                      <a:tailEnd type="none" w="med" len="med"/>
                    </a:lnR>
                    <a:lnT w="12700" cap="flat" cmpd="sng" algn="ctr">
                      <a:solidFill>
                        <a:srgbClr val="26304F"/>
                      </a:solidFill>
                      <a:prstDash val="solid"/>
                      <a:round/>
                      <a:headEnd type="none" w="med" len="med"/>
                      <a:tailEnd type="none" w="med" len="med"/>
                    </a:lnT>
                    <a:lnB w="12700" cap="flat" cmpd="sng" algn="ctr">
                      <a:solidFill>
                        <a:srgbClr val="26304F"/>
                      </a:solidFill>
                      <a:prstDash val="solid"/>
                      <a:round/>
                      <a:headEnd type="none" w="med" len="med"/>
                      <a:tailEnd type="none" w="med" len="med"/>
                    </a:lnB>
                    <a:solidFill>
                      <a:srgbClr val="00E5FF"/>
                    </a:solidFill>
                  </a:tcPr>
                </a:tc>
                <a:tc>
                  <a:txBody>
                    <a:bodyPr/>
                    <a:lstStyle/>
                    <a:p>
                      <a:pPr marL="0" indent="0">
                        <a:buNone/>
                      </a:pPr>
                      <a:r>
                        <a:rPr lang="en-US" sz="1000" b="1" dirty="0">
                          <a:solidFill>
                            <a:srgbClr val="0B1020"/>
                          </a:solidFill>
                          <a:latin typeface="JetBrains Mono" pitchFamily="34" charset="0"/>
                          <a:ea typeface="JetBrains Mono" pitchFamily="34" charset="-122"/>
                          <a:cs typeface="JetBrains Mono" pitchFamily="34" charset="-120"/>
                        </a:rPr>
                        <a:t>Time</a:t>
                      </a:r>
                      <a:endParaRPr lang="en-US" sz="1000" dirty="0">
                        <a:latin typeface="JetBrains Mono" charset="0"/>
                        <a:ea typeface="JetBrains Mono" charset="0"/>
                        <a:cs typeface="JetBrains Mono" charset="0"/>
                      </a:endParaRPr>
                    </a:p>
                  </a:txBody>
                  <a:tcPr>
                    <a:lnL w="12700" cap="flat" cmpd="sng" algn="ctr">
                      <a:solidFill>
                        <a:srgbClr val="26304F"/>
                      </a:solidFill>
                      <a:prstDash val="solid"/>
                      <a:round/>
                      <a:headEnd type="none" w="med" len="med"/>
                      <a:tailEnd type="none" w="med" len="med"/>
                    </a:lnL>
                    <a:lnR w="12700" cap="flat" cmpd="sng" algn="ctr">
                      <a:solidFill>
                        <a:srgbClr val="26304F"/>
                      </a:solidFill>
                      <a:prstDash val="solid"/>
                      <a:round/>
                      <a:headEnd type="none" w="med" len="med"/>
                      <a:tailEnd type="none" w="med" len="med"/>
                    </a:lnR>
                    <a:lnT w="12700" cap="flat" cmpd="sng" algn="ctr">
                      <a:solidFill>
                        <a:srgbClr val="26304F"/>
                      </a:solidFill>
                      <a:prstDash val="solid"/>
                      <a:round/>
                      <a:headEnd type="none" w="med" len="med"/>
                      <a:tailEnd type="none" w="med" len="med"/>
                    </a:lnT>
                    <a:lnB w="12700" cap="flat" cmpd="sng" algn="ctr">
                      <a:solidFill>
                        <a:srgbClr val="26304F"/>
                      </a:solidFill>
                      <a:prstDash val="solid"/>
                      <a:round/>
                      <a:headEnd type="none" w="med" len="med"/>
                      <a:tailEnd type="none" w="med" len="med"/>
                    </a:lnB>
                    <a:solidFill>
                      <a:srgbClr val="00E5FF"/>
                    </a:solidFill>
                  </a:tcPr>
                </a:tc>
                <a:tc>
                  <a:txBody>
                    <a:bodyPr/>
                    <a:lstStyle/>
                    <a:p>
                      <a:pPr marL="0" indent="0">
                        <a:buNone/>
                      </a:pPr>
                      <a:r>
                        <a:rPr lang="en-US" sz="1000" b="1" dirty="0">
                          <a:solidFill>
                            <a:srgbClr val="0B1020"/>
                          </a:solidFill>
                          <a:latin typeface="JetBrains Mono" pitchFamily="34" charset="0"/>
                          <a:ea typeface="JetBrains Mono" pitchFamily="34" charset="-122"/>
                          <a:cs typeface="JetBrains Mono" pitchFamily="34" charset="-120"/>
                        </a:rPr>
                        <a:t>Optimal?</a:t>
                      </a:r>
                      <a:endParaRPr lang="en-US" sz="1000" dirty="0">
                        <a:latin typeface="JetBrains Mono" charset="0"/>
                        <a:ea typeface="JetBrains Mono" charset="0"/>
                        <a:cs typeface="JetBrains Mono" charset="0"/>
                      </a:endParaRPr>
                    </a:p>
                  </a:txBody>
                  <a:tcPr>
                    <a:lnL w="12700" cap="flat" cmpd="sng" algn="ctr">
                      <a:solidFill>
                        <a:srgbClr val="26304F"/>
                      </a:solidFill>
                      <a:prstDash val="solid"/>
                      <a:round/>
                      <a:headEnd type="none" w="med" len="med"/>
                      <a:tailEnd type="none" w="med" len="med"/>
                    </a:lnL>
                    <a:lnR w="12700" cap="flat" cmpd="sng" algn="ctr">
                      <a:solidFill>
                        <a:srgbClr val="26304F"/>
                      </a:solidFill>
                      <a:prstDash val="solid"/>
                      <a:round/>
                      <a:headEnd type="none" w="med" len="med"/>
                      <a:tailEnd type="none" w="med" len="med"/>
                    </a:lnR>
                    <a:lnT w="12700" cap="flat" cmpd="sng" algn="ctr">
                      <a:solidFill>
                        <a:srgbClr val="26304F"/>
                      </a:solidFill>
                      <a:prstDash val="solid"/>
                      <a:round/>
                      <a:headEnd type="none" w="med" len="med"/>
                      <a:tailEnd type="none" w="med" len="med"/>
                    </a:lnT>
                    <a:lnB w="12700" cap="flat" cmpd="sng" algn="ctr">
                      <a:solidFill>
                        <a:srgbClr val="26304F"/>
                      </a:solidFill>
                      <a:prstDash val="solid"/>
                      <a:round/>
                      <a:headEnd type="none" w="med" len="med"/>
                      <a:tailEnd type="none" w="med" len="med"/>
                    </a:lnB>
                    <a:solidFill>
                      <a:srgbClr val="00E5FF"/>
                    </a:solidFill>
                  </a:tcPr>
                </a:tc>
                <a:tc>
                  <a:txBody>
                    <a:bodyPr/>
                    <a:lstStyle/>
                    <a:p>
                      <a:pPr marL="0" indent="0">
                        <a:buNone/>
                      </a:pPr>
                      <a:r>
                        <a:rPr lang="en-US" sz="1000" b="1" dirty="0">
                          <a:solidFill>
                            <a:srgbClr val="0B1020"/>
                          </a:solidFill>
                          <a:latin typeface="JetBrains Mono" pitchFamily="34" charset="0"/>
                          <a:ea typeface="JetBrains Mono" pitchFamily="34" charset="-122"/>
                          <a:cs typeface="JetBrains Mono" pitchFamily="34" charset="-120"/>
                        </a:rPr>
                        <a:t>Best use</a:t>
                      </a:r>
                      <a:endParaRPr lang="en-US" sz="1000" dirty="0">
                        <a:latin typeface="JetBrains Mono" charset="0"/>
                        <a:ea typeface="JetBrains Mono" charset="0"/>
                        <a:cs typeface="JetBrains Mono" charset="0"/>
                      </a:endParaRPr>
                    </a:p>
                  </a:txBody>
                  <a:tcPr>
                    <a:lnL w="12700" cap="flat" cmpd="sng" algn="ctr">
                      <a:solidFill>
                        <a:srgbClr val="26304F"/>
                      </a:solidFill>
                      <a:prstDash val="solid"/>
                      <a:round/>
                      <a:headEnd type="none" w="med" len="med"/>
                      <a:tailEnd type="none" w="med" len="med"/>
                    </a:lnL>
                    <a:lnR w="12700" cap="flat" cmpd="sng" algn="ctr">
                      <a:solidFill>
                        <a:srgbClr val="26304F"/>
                      </a:solidFill>
                      <a:prstDash val="solid"/>
                      <a:round/>
                      <a:headEnd type="none" w="med" len="med"/>
                      <a:tailEnd type="none" w="med" len="med"/>
                    </a:lnR>
                    <a:lnT w="12700" cap="flat" cmpd="sng" algn="ctr">
                      <a:solidFill>
                        <a:srgbClr val="26304F"/>
                      </a:solidFill>
                      <a:prstDash val="solid"/>
                      <a:round/>
                      <a:headEnd type="none" w="med" len="med"/>
                      <a:tailEnd type="none" w="med" len="med"/>
                    </a:lnT>
                    <a:lnB w="12700" cap="flat" cmpd="sng" algn="ctr">
                      <a:solidFill>
                        <a:srgbClr val="26304F"/>
                      </a:solidFill>
                      <a:prstDash val="solid"/>
                      <a:round/>
                      <a:headEnd type="none" w="med" len="med"/>
                      <a:tailEnd type="none" w="med" len="med"/>
                    </a:lnB>
                    <a:solidFill>
                      <a:srgbClr val="00E5FF"/>
                    </a:solidFill>
                  </a:tcPr>
                </a:tc>
                <a:extLst>
                  <a:ext uri="{0D108BD9-81ED-4DB2-BD59-A6C34878D82A}">
                    <a16:rowId xmlns:a16="http://schemas.microsoft.com/office/drawing/2014/main" val="10000"/>
                  </a:ext>
                </a:extLst>
              </a:tr>
              <a:tr h="457200">
                <a:tc>
                  <a:txBody>
                    <a:bodyPr/>
                    <a:lstStyle/>
                    <a:p>
                      <a:pPr marL="0" indent="0">
                        <a:buNone/>
                      </a:pPr>
                      <a:r>
                        <a:rPr lang="en-US" sz="1000" dirty="0">
                          <a:solidFill>
                            <a:srgbClr val="E6EEF8"/>
                          </a:solidFill>
                          <a:latin typeface="JetBrains Mono" pitchFamily="34" charset="0"/>
                          <a:ea typeface="JetBrains Mono" pitchFamily="34" charset="-122"/>
                          <a:cs typeface="JetBrains Mono" pitchFamily="34" charset="-120"/>
                        </a:rPr>
                        <a:t>Brute force</a:t>
                      </a:r>
                      <a:endParaRPr lang="en-US" sz="1000" dirty="0">
                        <a:latin typeface="JetBrains Mono" charset="0"/>
                        <a:ea typeface="JetBrains Mono" charset="0"/>
                        <a:cs typeface="JetBrains Mono" charset="0"/>
                      </a:endParaRPr>
                    </a:p>
                  </a:txBody>
                  <a:tcPr>
                    <a:lnL w="12700" cap="flat" cmpd="sng" algn="ctr">
                      <a:solidFill>
                        <a:srgbClr val="26304F"/>
                      </a:solidFill>
                      <a:prstDash val="solid"/>
                      <a:round/>
                      <a:headEnd type="none" w="med" len="med"/>
                      <a:tailEnd type="none" w="med" len="med"/>
                    </a:lnL>
                    <a:lnR w="12700" cap="flat" cmpd="sng" algn="ctr">
                      <a:solidFill>
                        <a:srgbClr val="26304F"/>
                      </a:solidFill>
                      <a:prstDash val="solid"/>
                      <a:round/>
                      <a:headEnd type="none" w="med" len="med"/>
                      <a:tailEnd type="none" w="med" len="med"/>
                    </a:lnR>
                    <a:lnT w="12700" cap="flat" cmpd="sng" algn="ctr">
                      <a:solidFill>
                        <a:srgbClr val="26304F"/>
                      </a:solidFill>
                      <a:prstDash val="solid"/>
                      <a:round/>
                      <a:headEnd type="none" w="med" len="med"/>
                      <a:tailEnd type="none" w="med" len="med"/>
                    </a:lnT>
                    <a:lnB w="12700" cap="flat" cmpd="sng" algn="ctr">
                      <a:solidFill>
                        <a:srgbClr val="26304F"/>
                      </a:solidFill>
                      <a:prstDash val="solid"/>
                      <a:round/>
                      <a:headEnd type="none" w="med" len="med"/>
                      <a:tailEnd type="none" w="med" len="med"/>
                    </a:lnB>
                    <a:solidFill>
                      <a:srgbClr val="141B33"/>
                    </a:solidFill>
                  </a:tcPr>
                </a:tc>
                <a:tc>
                  <a:txBody>
                    <a:bodyPr/>
                    <a:lstStyle/>
                    <a:p>
                      <a:pPr marL="0" indent="0">
                        <a:buNone/>
                      </a:pPr>
                      <a:r>
                        <a:rPr lang="en-US" sz="1000" dirty="0">
                          <a:solidFill>
                            <a:srgbClr val="FF4D6D"/>
                          </a:solidFill>
                          <a:latin typeface="JetBrains Mono" pitchFamily="34" charset="0"/>
                          <a:ea typeface="JetBrains Mono" pitchFamily="34" charset="-122"/>
                          <a:cs typeface="JetBrains Mono" pitchFamily="34" charset="-120"/>
                        </a:rPr>
                        <a:t>O(n!)</a:t>
                      </a:r>
                      <a:endParaRPr lang="en-US" sz="1000" dirty="0">
                        <a:latin typeface="JetBrains Mono" charset="0"/>
                        <a:ea typeface="JetBrains Mono" charset="0"/>
                        <a:cs typeface="JetBrains Mono" charset="0"/>
                      </a:endParaRPr>
                    </a:p>
                  </a:txBody>
                  <a:tcPr>
                    <a:lnL w="12700" cap="flat" cmpd="sng" algn="ctr">
                      <a:solidFill>
                        <a:srgbClr val="26304F"/>
                      </a:solidFill>
                      <a:prstDash val="solid"/>
                      <a:round/>
                      <a:headEnd type="none" w="med" len="med"/>
                      <a:tailEnd type="none" w="med" len="med"/>
                    </a:lnL>
                    <a:lnR w="12700" cap="flat" cmpd="sng" algn="ctr">
                      <a:solidFill>
                        <a:srgbClr val="26304F"/>
                      </a:solidFill>
                      <a:prstDash val="solid"/>
                      <a:round/>
                      <a:headEnd type="none" w="med" len="med"/>
                      <a:tailEnd type="none" w="med" len="med"/>
                    </a:lnR>
                    <a:lnT w="12700" cap="flat" cmpd="sng" algn="ctr">
                      <a:solidFill>
                        <a:srgbClr val="26304F"/>
                      </a:solidFill>
                      <a:prstDash val="solid"/>
                      <a:round/>
                      <a:headEnd type="none" w="med" len="med"/>
                      <a:tailEnd type="none" w="med" len="med"/>
                    </a:lnT>
                    <a:lnB w="12700" cap="flat" cmpd="sng" algn="ctr">
                      <a:solidFill>
                        <a:srgbClr val="26304F"/>
                      </a:solidFill>
                      <a:prstDash val="solid"/>
                      <a:round/>
                      <a:headEnd type="none" w="med" len="med"/>
                      <a:tailEnd type="none" w="med" len="med"/>
                    </a:lnB>
                    <a:solidFill>
                      <a:srgbClr val="141B33"/>
                    </a:solidFill>
                  </a:tcPr>
                </a:tc>
                <a:tc>
                  <a:txBody>
                    <a:bodyPr/>
                    <a:lstStyle/>
                    <a:p>
                      <a:pPr marL="0" indent="0">
                        <a:buNone/>
                      </a:pPr>
                      <a:r>
                        <a:rPr lang="en-US" sz="1000" dirty="0">
                          <a:solidFill>
                            <a:srgbClr val="39FF88"/>
                          </a:solidFill>
                          <a:latin typeface="JetBrains Mono" pitchFamily="34" charset="0"/>
                          <a:ea typeface="JetBrains Mono" pitchFamily="34" charset="-122"/>
                          <a:cs typeface="JetBrains Mono" pitchFamily="34" charset="-120"/>
                        </a:rPr>
                        <a:t>Yes</a:t>
                      </a:r>
                      <a:endParaRPr lang="en-US" sz="1000" dirty="0">
                        <a:latin typeface="JetBrains Mono" charset="0"/>
                        <a:ea typeface="JetBrains Mono" charset="0"/>
                        <a:cs typeface="JetBrains Mono" charset="0"/>
                      </a:endParaRPr>
                    </a:p>
                  </a:txBody>
                  <a:tcPr>
                    <a:lnL w="12700" cap="flat" cmpd="sng" algn="ctr">
                      <a:solidFill>
                        <a:srgbClr val="26304F"/>
                      </a:solidFill>
                      <a:prstDash val="solid"/>
                      <a:round/>
                      <a:headEnd type="none" w="med" len="med"/>
                      <a:tailEnd type="none" w="med" len="med"/>
                    </a:lnL>
                    <a:lnR w="12700" cap="flat" cmpd="sng" algn="ctr">
                      <a:solidFill>
                        <a:srgbClr val="26304F"/>
                      </a:solidFill>
                      <a:prstDash val="solid"/>
                      <a:round/>
                      <a:headEnd type="none" w="med" len="med"/>
                      <a:tailEnd type="none" w="med" len="med"/>
                    </a:lnR>
                    <a:lnT w="12700" cap="flat" cmpd="sng" algn="ctr">
                      <a:solidFill>
                        <a:srgbClr val="26304F"/>
                      </a:solidFill>
                      <a:prstDash val="solid"/>
                      <a:round/>
                      <a:headEnd type="none" w="med" len="med"/>
                      <a:tailEnd type="none" w="med" len="med"/>
                    </a:lnT>
                    <a:lnB w="12700" cap="flat" cmpd="sng" algn="ctr">
                      <a:solidFill>
                        <a:srgbClr val="26304F"/>
                      </a:solidFill>
                      <a:prstDash val="solid"/>
                      <a:round/>
                      <a:headEnd type="none" w="med" len="med"/>
                      <a:tailEnd type="none" w="med" len="med"/>
                    </a:lnB>
                    <a:solidFill>
                      <a:srgbClr val="141B33"/>
                    </a:solidFill>
                  </a:tcPr>
                </a:tc>
                <a:tc>
                  <a:txBody>
                    <a:bodyPr/>
                    <a:lstStyle/>
                    <a:p>
                      <a:pPr marL="0" indent="0">
                        <a:buNone/>
                      </a:pPr>
                      <a:r>
                        <a:rPr lang="en-US" sz="1000" dirty="0">
                          <a:solidFill>
                            <a:srgbClr val="E6EEF8"/>
                          </a:solidFill>
                          <a:latin typeface="JetBrains Mono" pitchFamily="34" charset="0"/>
                          <a:ea typeface="JetBrains Mono" pitchFamily="34" charset="-122"/>
                          <a:cs typeface="JetBrains Mono" pitchFamily="34" charset="-120"/>
                        </a:rPr>
                        <a:t>n ≤ 8, baseline</a:t>
                      </a:r>
                      <a:endParaRPr lang="en-US" sz="1000" dirty="0">
                        <a:latin typeface="JetBrains Mono" charset="0"/>
                        <a:ea typeface="JetBrains Mono" charset="0"/>
                        <a:cs typeface="JetBrains Mono" charset="0"/>
                      </a:endParaRPr>
                    </a:p>
                  </a:txBody>
                  <a:tcPr>
                    <a:lnL w="12700" cap="flat" cmpd="sng" algn="ctr">
                      <a:solidFill>
                        <a:srgbClr val="26304F"/>
                      </a:solidFill>
                      <a:prstDash val="solid"/>
                      <a:round/>
                      <a:headEnd type="none" w="med" len="med"/>
                      <a:tailEnd type="none" w="med" len="med"/>
                    </a:lnL>
                    <a:lnR w="12700" cap="flat" cmpd="sng" algn="ctr">
                      <a:solidFill>
                        <a:srgbClr val="26304F"/>
                      </a:solidFill>
                      <a:prstDash val="solid"/>
                      <a:round/>
                      <a:headEnd type="none" w="med" len="med"/>
                      <a:tailEnd type="none" w="med" len="med"/>
                    </a:lnR>
                    <a:lnT w="12700" cap="flat" cmpd="sng" algn="ctr">
                      <a:solidFill>
                        <a:srgbClr val="26304F"/>
                      </a:solidFill>
                      <a:prstDash val="solid"/>
                      <a:round/>
                      <a:headEnd type="none" w="med" len="med"/>
                      <a:tailEnd type="none" w="med" len="med"/>
                    </a:lnT>
                    <a:lnB w="12700" cap="flat" cmpd="sng" algn="ctr">
                      <a:solidFill>
                        <a:srgbClr val="26304F"/>
                      </a:solidFill>
                      <a:prstDash val="solid"/>
                      <a:round/>
                      <a:headEnd type="none" w="med" len="med"/>
                      <a:tailEnd type="none" w="med" len="med"/>
                    </a:lnB>
                    <a:solidFill>
                      <a:srgbClr val="141B33"/>
                    </a:solidFill>
                  </a:tcPr>
                </a:tc>
                <a:extLst>
                  <a:ext uri="{0D108BD9-81ED-4DB2-BD59-A6C34878D82A}">
                    <a16:rowId xmlns:a16="http://schemas.microsoft.com/office/drawing/2014/main" val="10001"/>
                  </a:ext>
                </a:extLst>
              </a:tr>
              <a:tr h="457200">
                <a:tc>
                  <a:txBody>
                    <a:bodyPr/>
                    <a:lstStyle/>
                    <a:p>
                      <a:pPr marL="0" indent="0">
                        <a:buNone/>
                      </a:pPr>
                      <a:r>
                        <a:rPr lang="en-US" sz="1000" dirty="0">
                          <a:solidFill>
                            <a:srgbClr val="E6EEF8"/>
                          </a:solidFill>
                          <a:latin typeface="JetBrains Mono" pitchFamily="34" charset="0"/>
                          <a:ea typeface="JetBrains Mono" pitchFamily="34" charset="-122"/>
                          <a:cs typeface="JetBrains Mono" pitchFamily="34" charset="-120"/>
                        </a:rPr>
                        <a:t>Nearest neighbour</a:t>
                      </a:r>
                      <a:endParaRPr lang="en-US" sz="1000" dirty="0">
                        <a:latin typeface="JetBrains Mono" charset="0"/>
                        <a:ea typeface="JetBrains Mono" charset="0"/>
                        <a:cs typeface="JetBrains Mono" charset="0"/>
                      </a:endParaRPr>
                    </a:p>
                  </a:txBody>
                  <a:tcPr>
                    <a:lnL w="12700" cap="flat" cmpd="sng" algn="ctr">
                      <a:solidFill>
                        <a:srgbClr val="26304F"/>
                      </a:solidFill>
                      <a:prstDash val="solid"/>
                      <a:round/>
                      <a:headEnd type="none" w="med" len="med"/>
                      <a:tailEnd type="none" w="med" len="med"/>
                    </a:lnL>
                    <a:lnR w="12700" cap="flat" cmpd="sng" algn="ctr">
                      <a:solidFill>
                        <a:srgbClr val="26304F"/>
                      </a:solidFill>
                      <a:prstDash val="solid"/>
                      <a:round/>
                      <a:headEnd type="none" w="med" len="med"/>
                      <a:tailEnd type="none" w="med" len="med"/>
                    </a:lnR>
                    <a:lnT w="12700" cap="flat" cmpd="sng" algn="ctr">
                      <a:solidFill>
                        <a:srgbClr val="26304F"/>
                      </a:solidFill>
                      <a:prstDash val="solid"/>
                      <a:round/>
                      <a:headEnd type="none" w="med" len="med"/>
                      <a:tailEnd type="none" w="med" len="med"/>
                    </a:lnT>
                    <a:lnB w="12700" cap="flat" cmpd="sng" algn="ctr">
                      <a:solidFill>
                        <a:srgbClr val="26304F"/>
                      </a:solidFill>
                      <a:prstDash val="solid"/>
                      <a:round/>
                      <a:headEnd type="none" w="med" len="med"/>
                      <a:tailEnd type="none" w="med" len="med"/>
                    </a:lnB>
                    <a:solidFill>
                      <a:srgbClr val="141B33"/>
                    </a:solidFill>
                  </a:tcPr>
                </a:tc>
                <a:tc>
                  <a:txBody>
                    <a:bodyPr/>
                    <a:lstStyle/>
                    <a:p>
                      <a:pPr marL="0" indent="0">
                        <a:buNone/>
                      </a:pPr>
                      <a:r>
                        <a:rPr lang="en-US" sz="1000" dirty="0">
                          <a:solidFill>
                            <a:srgbClr val="39FF88"/>
                          </a:solidFill>
                          <a:latin typeface="JetBrains Mono" pitchFamily="34" charset="0"/>
                          <a:ea typeface="JetBrains Mono" pitchFamily="34" charset="-122"/>
                          <a:cs typeface="JetBrains Mono" pitchFamily="34" charset="-120"/>
                        </a:rPr>
                        <a:t>O(n²)</a:t>
                      </a:r>
                      <a:endParaRPr lang="en-US" sz="1000" dirty="0">
                        <a:latin typeface="JetBrains Mono" charset="0"/>
                        <a:ea typeface="JetBrains Mono" charset="0"/>
                        <a:cs typeface="JetBrains Mono" charset="0"/>
                      </a:endParaRPr>
                    </a:p>
                  </a:txBody>
                  <a:tcPr>
                    <a:lnL w="12700" cap="flat" cmpd="sng" algn="ctr">
                      <a:solidFill>
                        <a:srgbClr val="26304F"/>
                      </a:solidFill>
                      <a:prstDash val="solid"/>
                      <a:round/>
                      <a:headEnd type="none" w="med" len="med"/>
                      <a:tailEnd type="none" w="med" len="med"/>
                    </a:lnL>
                    <a:lnR w="12700" cap="flat" cmpd="sng" algn="ctr">
                      <a:solidFill>
                        <a:srgbClr val="26304F"/>
                      </a:solidFill>
                      <a:prstDash val="solid"/>
                      <a:round/>
                      <a:headEnd type="none" w="med" len="med"/>
                      <a:tailEnd type="none" w="med" len="med"/>
                    </a:lnR>
                    <a:lnT w="12700" cap="flat" cmpd="sng" algn="ctr">
                      <a:solidFill>
                        <a:srgbClr val="26304F"/>
                      </a:solidFill>
                      <a:prstDash val="solid"/>
                      <a:round/>
                      <a:headEnd type="none" w="med" len="med"/>
                      <a:tailEnd type="none" w="med" len="med"/>
                    </a:lnT>
                    <a:lnB w="12700" cap="flat" cmpd="sng" algn="ctr">
                      <a:solidFill>
                        <a:srgbClr val="26304F"/>
                      </a:solidFill>
                      <a:prstDash val="solid"/>
                      <a:round/>
                      <a:headEnd type="none" w="med" len="med"/>
                      <a:tailEnd type="none" w="med" len="med"/>
                    </a:lnB>
                    <a:solidFill>
                      <a:srgbClr val="141B33"/>
                    </a:solidFill>
                  </a:tcPr>
                </a:tc>
                <a:tc>
                  <a:txBody>
                    <a:bodyPr/>
                    <a:lstStyle/>
                    <a:p>
                      <a:pPr marL="0" indent="0">
                        <a:buNone/>
                      </a:pPr>
                      <a:r>
                        <a:rPr lang="en-US" sz="1000" dirty="0">
                          <a:solidFill>
                            <a:srgbClr val="FF4D6D"/>
                          </a:solidFill>
                          <a:latin typeface="JetBrains Mono" pitchFamily="34" charset="0"/>
                          <a:ea typeface="JetBrains Mono" pitchFamily="34" charset="-122"/>
                          <a:cs typeface="JetBrains Mono" pitchFamily="34" charset="-120"/>
                        </a:rPr>
                        <a:t>No</a:t>
                      </a:r>
                      <a:endParaRPr lang="en-US" sz="1000" dirty="0">
                        <a:latin typeface="JetBrains Mono" charset="0"/>
                        <a:ea typeface="JetBrains Mono" charset="0"/>
                        <a:cs typeface="JetBrains Mono" charset="0"/>
                      </a:endParaRPr>
                    </a:p>
                  </a:txBody>
                  <a:tcPr>
                    <a:lnL w="12700" cap="flat" cmpd="sng" algn="ctr">
                      <a:solidFill>
                        <a:srgbClr val="26304F"/>
                      </a:solidFill>
                      <a:prstDash val="solid"/>
                      <a:round/>
                      <a:headEnd type="none" w="med" len="med"/>
                      <a:tailEnd type="none" w="med" len="med"/>
                    </a:lnL>
                    <a:lnR w="12700" cap="flat" cmpd="sng" algn="ctr">
                      <a:solidFill>
                        <a:srgbClr val="26304F"/>
                      </a:solidFill>
                      <a:prstDash val="solid"/>
                      <a:round/>
                      <a:headEnd type="none" w="med" len="med"/>
                      <a:tailEnd type="none" w="med" len="med"/>
                    </a:lnR>
                    <a:lnT w="12700" cap="flat" cmpd="sng" algn="ctr">
                      <a:solidFill>
                        <a:srgbClr val="26304F"/>
                      </a:solidFill>
                      <a:prstDash val="solid"/>
                      <a:round/>
                      <a:headEnd type="none" w="med" len="med"/>
                      <a:tailEnd type="none" w="med" len="med"/>
                    </a:lnT>
                    <a:lnB w="12700" cap="flat" cmpd="sng" algn="ctr">
                      <a:solidFill>
                        <a:srgbClr val="26304F"/>
                      </a:solidFill>
                      <a:prstDash val="solid"/>
                      <a:round/>
                      <a:headEnd type="none" w="med" len="med"/>
                      <a:tailEnd type="none" w="med" len="med"/>
                    </a:lnB>
                    <a:solidFill>
                      <a:srgbClr val="141B33"/>
                    </a:solidFill>
                  </a:tcPr>
                </a:tc>
                <a:tc>
                  <a:txBody>
                    <a:bodyPr/>
                    <a:lstStyle/>
                    <a:p>
                      <a:pPr marL="0" indent="0">
                        <a:buNone/>
                      </a:pPr>
                      <a:r>
                        <a:rPr lang="en-US" sz="1000" dirty="0">
                          <a:solidFill>
                            <a:srgbClr val="E6EEF8"/>
                          </a:solidFill>
                          <a:latin typeface="JetBrains Mono" pitchFamily="34" charset="0"/>
                          <a:ea typeface="JetBrains Mono" pitchFamily="34" charset="-122"/>
                          <a:cs typeface="JetBrains Mono" pitchFamily="34" charset="-120"/>
                        </a:rPr>
                        <a:t>Fast estimate</a:t>
                      </a:r>
                      <a:endParaRPr lang="en-US" sz="1000" dirty="0">
                        <a:latin typeface="JetBrains Mono" charset="0"/>
                        <a:ea typeface="JetBrains Mono" charset="0"/>
                        <a:cs typeface="JetBrains Mono" charset="0"/>
                      </a:endParaRPr>
                    </a:p>
                  </a:txBody>
                  <a:tcPr>
                    <a:lnL w="12700" cap="flat" cmpd="sng" algn="ctr">
                      <a:solidFill>
                        <a:srgbClr val="26304F"/>
                      </a:solidFill>
                      <a:prstDash val="solid"/>
                      <a:round/>
                      <a:headEnd type="none" w="med" len="med"/>
                      <a:tailEnd type="none" w="med" len="med"/>
                    </a:lnL>
                    <a:lnR w="12700" cap="flat" cmpd="sng" algn="ctr">
                      <a:solidFill>
                        <a:srgbClr val="26304F"/>
                      </a:solidFill>
                      <a:prstDash val="solid"/>
                      <a:round/>
                      <a:headEnd type="none" w="med" len="med"/>
                      <a:tailEnd type="none" w="med" len="med"/>
                    </a:lnR>
                    <a:lnT w="12700" cap="flat" cmpd="sng" algn="ctr">
                      <a:solidFill>
                        <a:srgbClr val="26304F"/>
                      </a:solidFill>
                      <a:prstDash val="solid"/>
                      <a:round/>
                      <a:headEnd type="none" w="med" len="med"/>
                      <a:tailEnd type="none" w="med" len="med"/>
                    </a:lnT>
                    <a:lnB w="12700" cap="flat" cmpd="sng" algn="ctr">
                      <a:solidFill>
                        <a:srgbClr val="26304F"/>
                      </a:solidFill>
                      <a:prstDash val="solid"/>
                      <a:round/>
                      <a:headEnd type="none" w="med" len="med"/>
                      <a:tailEnd type="none" w="med" len="med"/>
                    </a:lnB>
                    <a:solidFill>
                      <a:srgbClr val="141B33"/>
                    </a:solidFill>
                  </a:tcPr>
                </a:tc>
                <a:extLst>
                  <a:ext uri="{0D108BD9-81ED-4DB2-BD59-A6C34878D82A}">
                    <a16:rowId xmlns:a16="http://schemas.microsoft.com/office/drawing/2014/main" val="10002"/>
                  </a:ext>
                </a:extLst>
              </a:tr>
              <a:tr h="457200">
                <a:tc>
                  <a:txBody>
                    <a:bodyPr/>
                    <a:lstStyle/>
                    <a:p>
                      <a:pPr marL="0" indent="0">
                        <a:buNone/>
                      </a:pPr>
                      <a:r>
                        <a:rPr lang="en-US" sz="1000" dirty="0">
                          <a:solidFill>
                            <a:srgbClr val="E6EEF8"/>
                          </a:solidFill>
                          <a:latin typeface="JetBrains Mono" pitchFamily="34" charset="0"/>
                          <a:ea typeface="JetBrains Mono" pitchFamily="34" charset="-122"/>
                          <a:cs typeface="JetBrains Mono" pitchFamily="34" charset="-120"/>
                        </a:rPr>
                        <a:t>Held-Karp DP</a:t>
                      </a:r>
                      <a:endParaRPr lang="en-US" sz="1000" dirty="0">
                        <a:latin typeface="JetBrains Mono" charset="0"/>
                        <a:ea typeface="JetBrains Mono" charset="0"/>
                        <a:cs typeface="JetBrains Mono" charset="0"/>
                      </a:endParaRPr>
                    </a:p>
                  </a:txBody>
                  <a:tcPr>
                    <a:lnL w="12700" cap="flat" cmpd="sng" algn="ctr">
                      <a:solidFill>
                        <a:srgbClr val="26304F"/>
                      </a:solidFill>
                      <a:prstDash val="solid"/>
                      <a:round/>
                      <a:headEnd type="none" w="med" len="med"/>
                      <a:tailEnd type="none" w="med" len="med"/>
                    </a:lnL>
                    <a:lnR w="12700" cap="flat" cmpd="sng" algn="ctr">
                      <a:solidFill>
                        <a:srgbClr val="26304F"/>
                      </a:solidFill>
                      <a:prstDash val="solid"/>
                      <a:round/>
                      <a:headEnd type="none" w="med" len="med"/>
                      <a:tailEnd type="none" w="med" len="med"/>
                    </a:lnR>
                    <a:lnT w="12700" cap="flat" cmpd="sng" algn="ctr">
                      <a:solidFill>
                        <a:srgbClr val="26304F"/>
                      </a:solidFill>
                      <a:prstDash val="solid"/>
                      <a:round/>
                      <a:headEnd type="none" w="med" len="med"/>
                      <a:tailEnd type="none" w="med" len="med"/>
                    </a:lnT>
                    <a:lnB w="12700" cap="flat" cmpd="sng" algn="ctr">
                      <a:solidFill>
                        <a:srgbClr val="26304F"/>
                      </a:solidFill>
                      <a:prstDash val="solid"/>
                      <a:round/>
                      <a:headEnd type="none" w="med" len="med"/>
                      <a:tailEnd type="none" w="med" len="med"/>
                    </a:lnB>
                    <a:solidFill>
                      <a:srgbClr val="141B33"/>
                    </a:solidFill>
                  </a:tcPr>
                </a:tc>
                <a:tc>
                  <a:txBody>
                    <a:bodyPr/>
                    <a:lstStyle/>
                    <a:p>
                      <a:pPr marL="0" indent="0">
                        <a:buNone/>
                      </a:pPr>
                      <a:r>
                        <a:rPr lang="en-US" sz="1000" dirty="0">
                          <a:solidFill>
                            <a:srgbClr val="FFB300"/>
                          </a:solidFill>
                          <a:latin typeface="JetBrains Mono" pitchFamily="34" charset="0"/>
                          <a:ea typeface="JetBrains Mono" pitchFamily="34" charset="-122"/>
                          <a:cs typeface="JetBrains Mono" pitchFamily="34" charset="-120"/>
                        </a:rPr>
                        <a:t>O(n²·2ⁿ)</a:t>
                      </a:r>
                      <a:endParaRPr lang="en-US" sz="1000" dirty="0">
                        <a:latin typeface="JetBrains Mono" charset="0"/>
                        <a:ea typeface="JetBrains Mono" charset="0"/>
                        <a:cs typeface="JetBrains Mono" charset="0"/>
                      </a:endParaRPr>
                    </a:p>
                  </a:txBody>
                  <a:tcPr>
                    <a:lnL w="12700" cap="flat" cmpd="sng" algn="ctr">
                      <a:solidFill>
                        <a:srgbClr val="26304F"/>
                      </a:solidFill>
                      <a:prstDash val="solid"/>
                      <a:round/>
                      <a:headEnd type="none" w="med" len="med"/>
                      <a:tailEnd type="none" w="med" len="med"/>
                    </a:lnL>
                    <a:lnR w="12700" cap="flat" cmpd="sng" algn="ctr">
                      <a:solidFill>
                        <a:srgbClr val="26304F"/>
                      </a:solidFill>
                      <a:prstDash val="solid"/>
                      <a:round/>
                      <a:headEnd type="none" w="med" len="med"/>
                      <a:tailEnd type="none" w="med" len="med"/>
                    </a:lnR>
                    <a:lnT w="12700" cap="flat" cmpd="sng" algn="ctr">
                      <a:solidFill>
                        <a:srgbClr val="26304F"/>
                      </a:solidFill>
                      <a:prstDash val="solid"/>
                      <a:round/>
                      <a:headEnd type="none" w="med" len="med"/>
                      <a:tailEnd type="none" w="med" len="med"/>
                    </a:lnT>
                    <a:lnB w="12700" cap="flat" cmpd="sng" algn="ctr">
                      <a:solidFill>
                        <a:srgbClr val="26304F"/>
                      </a:solidFill>
                      <a:prstDash val="solid"/>
                      <a:round/>
                      <a:headEnd type="none" w="med" len="med"/>
                      <a:tailEnd type="none" w="med" len="med"/>
                    </a:lnB>
                    <a:solidFill>
                      <a:srgbClr val="141B33"/>
                    </a:solidFill>
                  </a:tcPr>
                </a:tc>
                <a:tc>
                  <a:txBody>
                    <a:bodyPr/>
                    <a:lstStyle/>
                    <a:p>
                      <a:pPr marL="0" indent="0">
                        <a:buNone/>
                      </a:pPr>
                      <a:r>
                        <a:rPr lang="en-US" sz="1000" dirty="0">
                          <a:solidFill>
                            <a:srgbClr val="39FF88"/>
                          </a:solidFill>
                          <a:latin typeface="JetBrains Mono" pitchFamily="34" charset="0"/>
                          <a:ea typeface="JetBrains Mono" pitchFamily="34" charset="-122"/>
                          <a:cs typeface="JetBrains Mono" pitchFamily="34" charset="-120"/>
                        </a:rPr>
                        <a:t>Yes</a:t>
                      </a:r>
                      <a:endParaRPr lang="en-US" sz="1000" dirty="0">
                        <a:latin typeface="JetBrains Mono" charset="0"/>
                        <a:ea typeface="JetBrains Mono" charset="0"/>
                        <a:cs typeface="JetBrains Mono" charset="0"/>
                      </a:endParaRPr>
                    </a:p>
                  </a:txBody>
                  <a:tcPr>
                    <a:lnL w="12700" cap="flat" cmpd="sng" algn="ctr">
                      <a:solidFill>
                        <a:srgbClr val="26304F"/>
                      </a:solidFill>
                      <a:prstDash val="solid"/>
                      <a:round/>
                      <a:headEnd type="none" w="med" len="med"/>
                      <a:tailEnd type="none" w="med" len="med"/>
                    </a:lnL>
                    <a:lnR w="12700" cap="flat" cmpd="sng" algn="ctr">
                      <a:solidFill>
                        <a:srgbClr val="26304F"/>
                      </a:solidFill>
                      <a:prstDash val="solid"/>
                      <a:round/>
                      <a:headEnd type="none" w="med" len="med"/>
                      <a:tailEnd type="none" w="med" len="med"/>
                    </a:lnR>
                    <a:lnT w="12700" cap="flat" cmpd="sng" algn="ctr">
                      <a:solidFill>
                        <a:srgbClr val="26304F"/>
                      </a:solidFill>
                      <a:prstDash val="solid"/>
                      <a:round/>
                      <a:headEnd type="none" w="med" len="med"/>
                      <a:tailEnd type="none" w="med" len="med"/>
                    </a:lnT>
                    <a:lnB w="12700" cap="flat" cmpd="sng" algn="ctr">
                      <a:solidFill>
                        <a:srgbClr val="26304F"/>
                      </a:solidFill>
                      <a:prstDash val="solid"/>
                      <a:round/>
                      <a:headEnd type="none" w="med" len="med"/>
                      <a:tailEnd type="none" w="med" len="med"/>
                    </a:lnB>
                    <a:solidFill>
                      <a:srgbClr val="141B33"/>
                    </a:solidFill>
                  </a:tcPr>
                </a:tc>
                <a:tc>
                  <a:txBody>
                    <a:bodyPr/>
                    <a:lstStyle/>
                    <a:p>
                      <a:pPr marL="0" indent="0">
                        <a:buNone/>
                      </a:pPr>
                      <a:r>
                        <a:rPr lang="en-US" sz="1000" dirty="0">
                          <a:solidFill>
                            <a:srgbClr val="E6EEF8"/>
                          </a:solidFill>
                          <a:latin typeface="JetBrains Mono" pitchFamily="34" charset="0"/>
                          <a:ea typeface="JetBrains Mono" pitchFamily="34" charset="-122"/>
                          <a:cs typeface="JetBrains Mono" pitchFamily="34" charset="-120"/>
                        </a:rPr>
                        <a:t>n ≤ ~20, exact</a:t>
                      </a:r>
                      <a:endParaRPr lang="en-US" sz="1000" dirty="0">
                        <a:latin typeface="JetBrains Mono" charset="0"/>
                        <a:ea typeface="JetBrains Mono" charset="0"/>
                        <a:cs typeface="JetBrains Mono" charset="0"/>
                      </a:endParaRPr>
                    </a:p>
                  </a:txBody>
                  <a:tcPr>
                    <a:lnL w="12700" cap="flat" cmpd="sng" algn="ctr">
                      <a:solidFill>
                        <a:srgbClr val="26304F"/>
                      </a:solidFill>
                      <a:prstDash val="solid"/>
                      <a:round/>
                      <a:headEnd type="none" w="med" len="med"/>
                      <a:tailEnd type="none" w="med" len="med"/>
                    </a:lnL>
                    <a:lnR w="12700" cap="flat" cmpd="sng" algn="ctr">
                      <a:solidFill>
                        <a:srgbClr val="26304F"/>
                      </a:solidFill>
                      <a:prstDash val="solid"/>
                      <a:round/>
                      <a:headEnd type="none" w="med" len="med"/>
                      <a:tailEnd type="none" w="med" len="med"/>
                    </a:lnR>
                    <a:lnT w="12700" cap="flat" cmpd="sng" algn="ctr">
                      <a:solidFill>
                        <a:srgbClr val="26304F"/>
                      </a:solidFill>
                      <a:prstDash val="solid"/>
                      <a:round/>
                      <a:headEnd type="none" w="med" len="med"/>
                      <a:tailEnd type="none" w="med" len="med"/>
                    </a:lnT>
                    <a:lnB w="12700" cap="flat" cmpd="sng" algn="ctr">
                      <a:solidFill>
                        <a:srgbClr val="26304F"/>
                      </a:solidFill>
                      <a:prstDash val="solid"/>
                      <a:round/>
                      <a:headEnd type="none" w="med" len="med"/>
                      <a:tailEnd type="none" w="med" len="med"/>
                    </a:lnB>
                    <a:solidFill>
                      <a:srgbClr val="141B33"/>
                    </a:solidFill>
                  </a:tcPr>
                </a:tc>
                <a:extLst>
                  <a:ext uri="{0D108BD9-81ED-4DB2-BD59-A6C34878D82A}">
                    <a16:rowId xmlns:a16="http://schemas.microsoft.com/office/drawing/2014/main" val="10003"/>
                  </a:ext>
                </a:extLst>
              </a:tr>
            </a:tbl>
          </a:graphicData>
        </a:graphic>
      </p:graphicFrame>
      <p:sp>
        <p:nvSpPr>
          <p:cNvPr id="22" name="Text 18"/>
          <p:cNvSpPr txBox="1"/>
          <p:nvPr/>
        </p:nvSpPr>
        <p:spPr>
          <a:xfrm>
            <a:off x="548640" y="3840480"/>
            <a:ext cx="7863840" cy="274320"/>
          </a:xfrm>
          <a:prstGeom prst="rect">
            <a:avLst/>
          </a:prstGeom>
          <a:noFill/>
          <a:ln/>
        </p:spPr>
        <p:txBody>
          <a:bodyPr wrap="square" lIns="0" tIns="0" rIns="0" bIns="0" rtlCol="0" anchor="t"/>
          <a:lstStyle/>
          <a:p>
            <a:pPr marL="0" indent="0">
              <a:buNone/>
            </a:pPr>
            <a:r>
              <a:rPr lang="en-US" sz="1100" dirty="0">
                <a:solidFill>
                  <a:srgbClr val="FFB300"/>
                </a:solidFill>
                <a:latin typeface="Inter" pitchFamily="34" charset="0"/>
                <a:ea typeface="Inter" pitchFamily="34" charset="-122"/>
                <a:cs typeface="Inter" pitchFamily="34" charset="-120"/>
              </a:rPr>
              <a:t>Chosen for the demo: Held-Karp for exact order, nearest neighbour as the fast fallback.</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228600" y="228600"/>
            <a:ext cx="8686800" cy="4686300"/>
          </a:xfrm>
          <a:prstGeom prst="rect">
            <a:avLst/>
          </a:prstGeom>
          <a:ln w="9525">
            <a:solidFill>
              <a:srgbClr val="00E5FF">
                <a:alpha val="40000"/>
              </a:srgbClr>
            </a:solidFill>
            <a:prstDash val="solid"/>
          </a:ln>
        </p:spPr>
      </p:sp>
      <p:sp>
        <p:nvSpPr>
          <p:cNvPr id="3" name="Shape 1"/>
          <p:cNvSpPr/>
          <p:nvPr/>
        </p:nvSpPr>
        <p:spPr>
          <a:xfrm>
            <a:off x="228600" y="228600"/>
            <a:ext cx="228600" cy="0"/>
          </a:xfrm>
          <a:prstGeom prst="line">
            <a:avLst/>
          </a:prstGeom>
          <a:noFill/>
          <a:ln w="25400">
            <a:solidFill>
              <a:srgbClr val="00E5FF"/>
            </a:solidFill>
            <a:prstDash val="solid"/>
          </a:ln>
        </p:spPr>
      </p:sp>
      <p:sp>
        <p:nvSpPr>
          <p:cNvPr id="4" name="Shape 2"/>
          <p:cNvSpPr/>
          <p:nvPr/>
        </p:nvSpPr>
        <p:spPr>
          <a:xfrm>
            <a:off x="228600" y="228600"/>
            <a:ext cx="0" cy="228600"/>
          </a:xfrm>
          <a:prstGeom prst="line">
            <a:avLst/>
          </a:prstGeom>
          <a:noFill/>
          <a:ln w="25400">
            <a:solidFill>
              <a:srgbClr val="00E5FF"/>
            </a:solidFill>
            <a:prstDash val="solid"/>
          </a:ln>
        </p:spPr>
      </p:sp>
      <p:sp>
        <p:nvSpPr>
          <p:cNvPr id="5" name="Shape 3"/>
          <p:cNvSpPr/>
          <p:nvPr/>
        </p:nvSpPr>
        <p:spPr>
          <a:xfrm>
            <a:off x="8686800" y="228600"/>
            <a:ext cx="228600" cy="0"/>
          </a:xfrm>
          <a:prstGeom prst="line">
            <a:avLst/>
          </a:prstGeom>
          <a:noFill/>
          <a:ln w="25400">
            <a:solidFill>
              <a:srgbClr val="00E5FF"/>
            </a:solidFill>
            <a:prstDash val="solid"/>
          </a:ln>
        </p:spPr>
      </p:sp>
      <p:sp>
        <p:nvSpPr>
          <p:cNvPr id="6" name="Shape 4"/>
          <p:cNvSpPr/>
          <p:nvPr/>
        </p:nvSpPr>
        <p:spPr>
          <a:xfrm>
            <a:off x="8915400" y="228600"/>
            <a:ext cx="0" cy="228600"/>
          </a:xfrm>
          <a:prstGeom prst="line">
            <a:avLst/>
          </a:prstGeom>
          <a:noFill/>
          <a:ln w="25400">
            <a:solidFill>
              <a:srgbClr val="00E5FF"/>
            </a:solidFill>
            <a:prstDash val="solid"/>
          </a:ln>
        </p:spPr>
      </p:sp>
      <p:sp>
        <p:nvSpPr>
          <p:cNvPr id="7" name="Shape 5"/>
          <p:cNvSpPr/>
          <p:nvPr/>
        </p:nvSpPr>
        <p:spPr>
          <a:xfrm>
            <a:off x="228600" y="4914900"/>
            <a:ext cx="228600" cy="0"/>
          </a:xfrm>
          <a:prstGeom prst="line">
            <a:avLst/>
          </a:prstGeom>
          <a:noFill/>
          <a:ln w="25400">
            <a:solidFill>
              <a:srgbClr val="00E5FF"/>
            </a:solidFill>
            <a:prstDash val="solid"/>
          </a:ln>
        </p:spPr>
      </p:sp>
      <p:sp>
        <p:nvSpPr>
          <p:cNvPr id="8" name="Shape 6"/>
          <p:cNvSpPr/>
          <p:nvPr/>
        </p:nvSpPr>
        <p:spPr>
          <a:xfrm>
            <a:off x="228600" y="4686300"/>
            <a:ext cx="0" cy="228600"/>
          </a:xfrm>
          <a:prstGeom prst="line">
            <a:avLst/>
          </a:prstGeom>
          <a:noFill/>
          <a:ln w="25400">
            <a:solidFill>
              <a:srgbClr val="00E5FF"/>
            </a:solidFill>
            <a:prstDash val="solid"/>
          </a:ln>
        </p:spPr>
      </p:sp>
      <p:sp>
        <p:nvSpPr>
          <p:cNvPr id="9" name="Shape 7"/>
          <p:cNvSpPr/>
          <p:nvPr/>
        </p:nvSpPr>
        <p:spPr>
          <a:xfrm>
            <a:off x="8686800" y="4914900"/>
            <a:ext cx="228600" cy="0"/>
          </a:xfrm>
          <a:prstGeom prst="line">
            <a:avLst/>
          </a:prstGeom>
          <a:noFill/>
          <a:ln w="25400">
            <a:solidFill>
              <a:srgbClr val="00E5FF"/>
            </a:solidFill>
            <a:prstDash val="solid"/>
          </a:ln>
        </p:spPr>
      </p:sp>
      <p:sp>
        <p:nvSpPr>
          <p:cNvPr id="10" name="Shape 8"/>
          <p:cNvSpPr/>
          <p:nvPr/>
        </p:nvSpPr>
        <p:spPr>
          <a:xfrm>
            <a:off x="8915400" y="4686300"/>
            <a:ext cx="0" cy="228600"/>
          </a:xfrm>
          <a:prstGeom prst="line">
            <a:avLst/>
          </a:prstGeom>
          <a:noFill/>
          <a:ln w="25400">
            <a:solidFill>
              <a:srgbClr val="00E5FF"/>
            </a:solidFill>
            <a:prstDash val="solid"/>
          </a:ln>
        </p:spPr>
      </p:sp>
      <p:sp>
        <p:nvSpPr>
          <p:cNvPr id="11" name="Text 9"/>
          <p:cNvSpPr txBox="1"/>
          <p:nvPr/>
        </p:nvSpPr>
        <p:spPr>
          <a:xfrm>
            <a:off x="548640" y="411480"/>
            <a:ext cx="7498080" cy="457200"/>
          </a:xfrm>
          <a:prstGeom prst="rect">
            <a:avLst/>
          </a:prstGeom>
          <a:noFill/>
          <a:ln/>
        </p:spPr>
        <p:txBody>
          <a:bodyPr wrap="square" lIns="0" tIns="0" rIns="0" bIns="0" rtlCol="0" anchor="t"/>
          <a:lstStyle/>
          <a:p>
            <a:pPr marL="0" indent="0">
              <a:buNone/>
            </a:pPr>
            <a:r>
              <a:rPr lang="en-US" sz="2000" b="1" dirty="0">
                <a:solidFill>
                  <a:srgbClr val="00E5FF"/>
                </a:solidFill>
                <a:latin typeface="Orbitron" pitchFamily="34" charset="0"/>
                <a:ea typeface="Orbitron" pitchFamily="34" charset="-122"/>
                <a:cs typeface="Orbitron" pitchFamily="34" charset="-120"/>
              </a:rPr>
              <a:t>BATTERY CONSTRAINT &amp; ROUTE REJECTION</a:t>
            </a:r>
            <a:endParaRPr lang="en-US" sz="2000" dirty="0"/>
          </a:p>
        </p:txBody>
      </p:sp>
      <p:sp>
        <p:nvSpPr>
          <p:cNvPr id="12" name="Shape 10"/>
          <p:cNvSpPr/>
          <p:nvPr/>
        </p:nvSpPr>
        <p:spPr>
          <a:xfrm>
            <a:off x="548640" y="914400"/>
            <a:ext cx="2743200" cy="0"/>
          </a:xfrm>
          <a:prstGeom prst="line">
            <a:avLst/>
          </a:prstGeom>
          <a:noFill/>
          <a:ln w="19050">
            <a:solidFill>
              <a:srgbClr val="00E5FF"/>
            </a:solidFill>
            <a:prstDash val="dash"/>
          </a:ln>
        </p:spPr>
      </p:sp>
      <p:sp>
        <p:nvSpPr>
          <p:cNvPr id="13" name="Text 11"/>
          <p:cNvSpPr txBox="1"/>
          <p:nvPr/>
        </p:nvSpPr>
        <p:spPr>
          <a:xfrm>
            <a:off x="5577840" y="4590288"/>
            <a:ext cx="731520" cy="182880"/>
          </a:xfrm>
          <a:prstGeom prst="rect">
            <a:avLst/>
          </a:prstGeom>
          <a:noFill/>
          <a:ln/>
        </p:spPr>
        <p:txBody>
          <a:bodyPr wrap="square" lIns="0" tIns="0" rIns="0" bIns="0" rtlCol="0" anchor="t"/>
          <a:lstStyle/>
          <a:p>
            <a:pPr marL="0" indent="0">
              <a:buNone/>
            </a:pPr>
            <a:r>
              <a:rPr lang="en-US" sz="700" dirty="0">
                <a:solidFill>
                  <a:srgbClr val="7F8CA8"/>
                </a:solidFill>
                <a:latin typeface="JetBrains Mono" pitchFamily="34" charset="0"/>
                <a:ea typeface="JetBrains Mono" pitchFamily="34" charset="-122"/>
                <a:cs typeface="JetBrains Mono" pitchFamily="34" charset="-120"/>
              </a:rPr>
              <a:t>BATTERY</a:t>
            </a:r>
            <a:endParaRPr lang="en-US" sz="700" dirty="0"/>
          </a:p>
        </p:txBody>
      </p:sp>
      <p:sp>
        <p:nvSpPr>
          <p:cNvPr id="14" name="Shape 12"/>
          <p:cNvSpPr/>
          <p:nvPr/>
        </p:nvSpPr>
        <p:spPr>
          <a:xfrm>
            <a:off x="6217920" y="4608576"/>
            <a:ext cx="2011680" cy="128016"/>
          </a:xfrm>
          <a:prstGeom prst="rect">
            <a:avLst/>
          </a:prstGeom>
          <a:ln w="9525">
            <a:solidFill>
              <a:srgbClr val="7F8CA8"/>
            </a:solidFill>
            <a:prstDash val="solid"/>
          </a:ln>
        </p:spPr>
      </p:sp>
      <p:sp>
        <p:nvSpPr>
          <p:cNvPr id="15" name="Shape 13"/>
          <p:cNvSpPr/>
          <p:nvPr/>
        </p:nvSpPr>
        <p:spPr>
          <a:xfrm>
            <a:off x="6217920" y="4608576"/>
            <a:ext cx="341986" cy="128016"/>
          </a:xfrm>
          <a:prstGeom prst="rect">
            <a:avLst/>
          </a:prstGeom>
          <a:solidFill>
            <a:srgbClr val="FFB300"/>
          </a:solidFill>
          <a:ln/>
        </p:spPr>
      </p:sp>
      <p:sp>
        <p:nvSpPr>
          <p:cNvPr id="16" name="Text 14"/>
          <p:cNvSpPr txBox="1"/>
          <p:nvPr/>
        </p:nvSpPr>
        <p:spPr>
          <a:xfrm>
            <a:off x="8275320" y="4590288"/>
            <a:ext cx="457200" cy="182880"/>
          </a:xfrm>
          <a:prstGeom prst="rect">
            <a:avLst/>
          </a:prstGeom>
          <a:noFill/>
          <a:ln/>
        </p:spPr>
        <p:txBody>
          <a:bodyPr wrap="square" lIns="0" tIns="0" rIns="0" bIns="0" rtlCol="0" anchor="t"/>
          <a:lstStyle/>
          <a:p>
            <a:pPr marL="0" indent="0">
              <a:buNone/>
            </a:pPr>
            <a:r>
              <a:rPr lang="en-US" sz="700" dirty="0">
                <a:solidFill>
                  <a:srgbClr val="E6EEF8"/>
                </a:solidFill>
                <a:latin typeface="JetBrains Mono" pitchFamily="34" charset="0"/>
                <a:ea typeface="JetBrains Mono" pitchFamily="34" charset="-122"/>
                <a:cs typeface="JetBrains Mono" pitchFamily="34" charset="-120"/>
              </a:rPr>
              <a:t>17%</a:t>
            </a:r>
            <a:endParaRPr lang="en-US" sz="700" dirty="0"/>
          </a:p>
        </p:txBody>
      </p:sp>
      <p:sp>
        <p:nvSpPr>
          <p:cNvPr id="17" name="Shape 15"/>
          <p:cNvSpPr/>
          <p:nvPr/>
        </p:nvSpPr>
        <p:spPr>
          <a:xfrm>
            <a:off x="548640" y="4572000"/>
            <a:ext cx="274320" cy="237744"/>
          </a:xfrm>
          <a:prstGeom prst="hexagon">
            <a:avLst/>
          </a:prstGeom>
          <a:solidFill>
            <a:srgbClr val="141B33"/>
          </a:solidFill>
          <a:ln w="12700">
            <a:solidFill>
              <a:srgbClr val="00E5FF"/>
            </a:solidFill>
            <a:prstDash val="solid"/>
          </a:ln>
        </p:spPr>
      </p:sp>
      <p:sp>
        <p:nvSpPr>
          <p:cNvPr id="18" name="Text 16"/>
          <p:cNvSpPr txBox="1"/>
          <p:nvPr/>
        </p:nvSpPr>
        <p:spPr>
          <a:xfrm>
            <a:off x="548640" y="4572000"/>
            <a:ext cx="274320" cy="237744"/>
          </a:xfrm>
          <a:prstGeom prst="rect">
            <a:avLst/>
          </a:prstGeom>
          <a:noFill/>
          <a:ln/>
        </p:spPr>
        <p:txBody>
          <a:bodyPr wrap="square" lIns="0" tIns="0" rIns="0" bIns="0" rtlCol="0" anchor="ctr"/>
          <a:lstStyle/>
          <a:p>
            <a:pPr marL="0" indent="0" algn="ctr">
              <a:buNone/>
            </a:pPr>
            <a:r>
              <a:rPr lang="en-US" sz="900" b="1" dirty="0">
                <a:solidFill>
                  <a:srgbClr val="00E5FF"/>
                </a:solidFill>
                <a:latin typeface="JetBrains Mono" pitchFamily="34" charset="0"/>
                <a:ea typeface="JetBrains Mono" pitchFamily="34" charset="-122"/>
                <a:cs typeface="JetBrains Mono" pitchFamily="34" charset="-120"/>
              </a:rPr>
              <a:t>6</a:t>
            </a:r>
            <a:endParaRPr lang="en-US" sz="900" dirty="0"/>
          </a:p>
        </p:txBody>
      </p:sp>
      <p:sp>
        <p:nvSpPr>
          <p:cNvPr id="20" name="Text 17"/>
          <p:cNvSpPr txBox="1"/>
          <p:nvPr/>
        </p:nvSpPr>
        <p:spPr>
          <a:xfrm>
            <a:off x="548640" y="1234440"/>
            <a:ext cx="1097280" cy="274320"/>
          </a:xfrm>
          <a:prstGeom prst="rect">
            <a:avLst/>
          </a:prstGeom>
          <a:noFill/>
          <a:ln/>
        </p:spPr>
        <p:txBody>
          <a:bodyPr wrap="square" lIns="0" tIns="0" rIns="0" bIns="0" rtlCol="0" anchor="t"/>
          <a:lstStyle/>
          <a:p>
            <a:pPr marL="0" indent="0">
              <a:buNone/>
            </a:pPr>
            <a:r>
              <a:rPr lang="en-US" sz="1100" b="1" dirty="0">
                <a:solidFill>
                  <a:srgbClr val="E6EEF8"/>
                </a:solidFill>
                <a:latin typeface="Orbitron" pitchFamily="34" charset="0"/>
                <a:ea typeface="Orbitron" pitchFamily="34" charset="-122"/>
                <a:cs typeface="Orbitron" pitchFamily="34" charset="-120"/>
              </a:rPr>
              <a:t>ROUTE A</a:t>
            </a:r>
            <a:endParaRPr lang="en-US" sz="1100" dirty="0"/>
          </a:p>
        </p:txBody>
      </p:sp>
      <p:sp>
        <p:nvSpPr>
          <p:cNvPr id="21" name="Shape 18"/>
          <p:cNvSpPr/>
          <p:nvPr/>
        </p:nvSpPr>
        <p:spPr>
          <a:xfrm>
            <a:off x="1645920" y="1234440"/>
            <a:ext cx="4572000" cy="274320"/>
          </a:xfrm>
          <a:prstGeom prst="rect">
            <a:avLst/>
          </a:prstGeom>
          <a:ln w="12700">
            <a:solidFill>
              <a:srgbClr val="7F8CA8"/>
            </a:solidFill>
            <a:prstDash val="solid"/>
          </a:ln>
        </p:spPr>
      </p:sp>
      <p:sp>
        <p:nvSpPr>
          <p:cNvPr id="22" name="Shape 19"/>
          <p:cNvSpPr/>
          <p:nvPr/>
        </p:nvSpPr>
        <p:spPr>
          <a:xfrm>
            <a:off x="1645920" y="1234440"/>
            <a:ext cx="3749040" cy="274320"/>
          </a:xfrm>
          <a:prstGeom prst="rect">
            <a:avLst/>
          </a:prstGeom>
          <a:solidFill>
            <a:srgbClr val="39FF88"/>
          </a:solidFill>
          <a:ln/>
        </p:spPr>
      </p:sp>
      <p:sp>
        <p:nvSpPr>
          <p:cNvPr id="23" name="Text 20"/>
          <p:cNvSpPr txBox="1"/>
          <p:nvPr/>
        </p:nvSpPr>
        <p:spPr>
          <a:xfrm>
            <a:off x="5532120" y="1252728"/>
            <a:ext cx="1828800" cy="274320"/>
          </a:xfrm>
          <a:prstGeom prst="rect">
            <a:avLst/>
          </a:prstGeom>
          <a:noFill/>
          <a:ln/>
        </p:spPr>
        <p:txBody>
          <a:bodyPr wrap="square" lIns="0" tIns="0" rIns="0" bIns="0" rtlCol="0" anchor="t"/>
          <a:lstStyle/>
          <a:p>
            <a:pPr marL="0" indent="0">
              <a:buNone/>
            </a:pPr>
            <a:r>
              <a:rPr lang="en-US" sz="1000" b="1" dirty="0">
                <a:solidFill>
                  <a:srgbClr val="39FF88"/>
                </a:solidFill>
                <a:latin typeface="JetBrains Mono" pitchFamily="34" charset="0"/>
                <a:ea typeface="JetBrains Mono" pitchFamily="34" charset="-122"/>
                <a:cs typeface="JetBrains Mono" pitchFamily="34" charset="-120"/>
              </a:rPr>
              <a:t>82% ACCEPTED</a:t>
            </a:r>
            <a:endParaRPr lang="en-US" sz="1000" dirty="0"/>
          </a:p>
        </p:txBody>
      </p:sp>
      <p:sp>
        <p:nvSpPr>
          <p:cNvPr id="24" name="Text 21"/>
          <p:cNvSpPr txBox="1"/>
          <p:nvPr/>
        </p:nvSpPr>
        <p:spPr>
          <a:xfrm>
            <a:off x="548640" y="2423160"/>
            <a:ext cx="1097280" cy="274320"/>
          </a:xfrm>
          <a:prstGeom prst="rect">
            <a:avLst/>
          </a:prstGeom>
          <a:noFill/>
          <a:ln/>
        </p:spPr>
        <p:txBody>
          <a:bodyPr wrap="square" lIns="0" tIns="0" rIns="0" bIns="0" rtlCol="0" anchor="t"/>
          <a:lstStyle/>
          <a:p>
            <a:pPr marL="0" indent="0">
              <a:buNone/>
            </a:pPr>
            <a:r>
              <a:rPr lang="en-US" sz="1100" b="1" dirty="0">
                <a:solidFill>
                  <a:srgbClr val="E6EEF8"/>
                </a:solidFill>
                <a:latin typeface="Orbitron" pitchFamily="34" charset="0"/>
                <a:ea typeface="Orbitron" pitchFamily="34" charset="-122"/>
                <a:cs typeface="Orbitron" pitchFamily="34" charset="-120"/>
              </a:rPr>
              <a:t>ROUTE B</a:t>
            </a:r>
            <a:endParaRPr lang="en-US" sz="1100" dirty="0"/>
          </a:p>
        </p:txBody>
      </p:sp>
      <p:sp>
        <p:nvSpPr>
          <p:cNvPr id="25" name="Shape 22"/>
          <p:cNvSpPr/>
          <p:nvPr/>
        </p:nvSpPr>
        <p:spPr>
          <a:xfrm>
            <a:off x="1645920" y="2423160"/>
            <a:ext cx="4572000" cy="274320"/>
          </a:xfrm>
          <a:prstGeom prst="rect">
            <a:avLst/>
          </a:prstGeom>
          <a:ln w="12700">
            <a:solidFill>
              <a:srgbClr val="7F8CA8"/>
            </a:solidFill>
            <a:prstDash val="solid"/>
          </a:ln>
        </p:spPr>
      </p:sp>
      <p:sp>
        <p:nvSpPr>
          <p:cNvPr id="26" name="Shape 23"/>
          <p:cNvSpPr/>
          <p:nvPr/>
        </p:nvSpPr>
        <p:spPr>
          <a:xfrm>
            <a:off x="1645920" y="2423160"/>
            <a:ext cx="5806440" cy="274320"/>
          </a:xfrm>
          <a:prstGeom prst="rect">
            <a:avLst/>
          </a:prstGeom>
          <a:solidFill>
            <a:srgbClr val="FF4D6D"/>
          </a:solidFill>
          <a:ln/>
        </p:spPr>
      </p:sp>
      <p:sp>
        <p:nvSpPr>
          <p:cNvPr id="27" name="Text 24"/>
          <p:cNvSpPr txBox="1"/>
          <p:nvPr/>
        </p:nvSpPr>
        <p:spPr>
          <a:xfrm>
            <a:off x="7543800" y="2441448"/>
            <a:ext cx="1828800" cy="274320"/>
          </a:xfrm>
          <a:prstGeom prst="rect">
            <a:avLst/>
          </a:prstGeom>
          <a:noFill/>
          <a:ln/>
        </p:spPr>
        <p:txBody>
          <a:bodyPr wrap="square" lIns="0" tIns="0" rIns="0" bIns="0" rtlCol="0" anchor="t"/>
          <a:lstStyle/>
          <a:p>
            <a:pPr marL="0" indent="0">
              <a:buNone/>
            </a:pPr>
            <a:r>
              <a:rPr lang="en-US" sz="1000" b="1" dirty="0">
                <a:solidFill>
                  <a:srgbClr val="FF4D6D"/>
                </a:solidFill>
                <a:latin typeface="JetBrains Mono" pitchFamily="34" charset="0"/>
                <a:ea typeface="JetBrains Mono" pitchFamily="34" charset="-122"/>
                <a:cs typeface="JetBrains Mono" pitchFamily="34" charset="-120"/>
              </a:rPr>
              <a:t>127% REJECTED</a:t>
            </a:r>
            <a:endParaRPr lang="en-US" sz="1000" dirty="0"/>
          </a:p>
        </p:txBody>
      </p:sp>
      <p:sp>
        <p:nvSpPr>
          <p:cNvPr id="28" name="Shape 25"/>
          <p:cNvSpPr/>
          <p:nvPr/>
        </p:nvSpPr>
        <p:spPr>
          <a:xfrm>
            <a:off x="6217920" y="1097280"/>
            <a:ext cx="0" cy="1828800"/>
          </a:xfrm>
          <a:prstGeom prst="line">
            <a:avLst/>
          </a:prstGeom>
          <a:noFill/>
          <a:ln w="19050">
            <a:solidFill>
              <a:srgbClr val="FFB300"/>
            </a:solidFill>
            <a:prstDash val="dash"/>
          </a:ln>
        </p:spPr>
      </p:sp>
      <p:sp>
        <p:nvSpPr>
          <p:cNvPr id="29" name="Text 26"/>
          <p:cNvSpPr txBox="1"/>
          <p:nvPr/>
        </p:nvSpPr>
        <p:spPr>
          <a:xfrm>
            <a:off x="5760720" y="2971800"/>
            <a:ext cx="914400" cy="182880"/>
          </a:xfrm>
          <a:prstGeom prst="rect">
            <a:avLst/>
          </a:prstGeom>
          <a:noFill/>
          <a:ln/>
        </p:spPr>
        <p:txBody>
          <a:bodyPr wrap="square" lIns="0" tIns="0" rIns="0" bIns="0" rtlCol="0" anchor="t"/>
          <a:lstStyle/>
          <a:p>
            <a:pPr marL="0" indent="0">
              <a:buNone/>
            </a:pPr>
            <a:r>
              <a:rPr lang="en-US" sz="800" dirty="0">
                <a:solidFill>
                  <a:srgbClr val="FFB300"/>
                </a:solidFill>
                <a:latin typeface="JetBrains Mono" pitchFamily="34" charset="0"/>
                <a:ea typeface="JetBrains Mono" pitchFamily="34" charset="-122"/>
                <a:cs typeface="JetBrains Mono" pitchFamily="34" charset="-120"/>
              </a:rPr>
              <a:t>100% budget</a:t>
            </a:r>
            <a:endParaRPr lang="en-US" sz="800" dirty="0"/>
          </a:p>
        </p:txBody>
      </p:sp>
      <p:sp>
        <p:nvSpPr>
          <p:cNvPr id="30" name="Shape 27"/>
          <p:cNvSpPr/>
          <p:nvPr/>
        </p:nvSpPr>
        <p:spPr>
          <a:xfrm>
            <a:off x="548640" y="3337560"/>
            <a:ext cx="8046720" cy="1005840"/>
          </a:xfrm>
          <a:prstGeom prst="roundRect">
            <a:avLst>
              <a:gd name="adj" fmla="val 7273"/>
            </a:avLst>
          </a:prstGeom>
          <a:solidFill>
            <a:srgbClr val="141B33"/>
          </a:solidFill>
          <a:ln w="12700">
            <a:solidFill>
              <a:srgbClr val="FF4D6D"/>
            </a:solidFill>
            <a:prstDash val="solid"/>
          </a:ln>
        </p:spPr>
      </p:sp>
      <p:sp>
        <p:nvSpPr>
          <p:cNvPr id="31" name="Text 28"/>
          <p:cNvSpPr txBox="1"/>
          <p:nvPr/>
        </p:nvSpPr>
        <p:spPr>
          <a:xfrm>
            <a:off x="731520" y="3429000"/>
            <a:ext cx="3657600" cy="228600"/>
          </a:xfrm>
          <a:prstGeom prst="rect">
            <a:avLst/>
          </a:prstGeom>
          <a:noFill/>
          <a:ln/>
        </p:spPr>
        <p:txBody>
          <a:bodyPr wrap="square" lIns="0" tIns="0" rIns="0" bIns="0" rtlCol="0" anchor="t"/>
          <a:lstStyle/>
          <a:p>
            <a:pPr marL="0" indent="0">
              <a:buNone/>
            </a:pPr>
            <a:r>
              <a:rPr lang="en-US" sz="900" dirty="0">
                <a:solidFill>
                  <a:srgbClr val="7F8CA8"/>
                </a:solidFill>
                <a:latin typeface="JetBrains Mono" pitchFamily="34" charset="0"/>
                <a:ea typeface="JetBrains Mono" pitchFamily="34" charset="-122"/>
                <a:cs typeface="JetBrains Mono" pitchFamily="34" charset="-120"/>
              </a:rPr>
              <a:t>REASON SHOWN TO USER</a:t>
            </a:r>
            <a:endParaRPr lang="en-US" sz="900" dirty="0"/>
          </a:p>
        </p:txBody>
      </p:sp>
      <p:sp>
        <p:nvSpPr>
          <p:cNvPr id="32" name="Text 29"/>
          <p:cNvSpPr txBox="1"/>
          <p:nvPr/>
        </p:nvSpPr>
        <p:spPr>
          <a:xfrm>
            <a:off x="731520" y="3703320"/>
            <a:ext cx="7680960" cy="548640"/>
          </a:xfrm>
          <a:prstGeom prst="rect">
            <a:avLst/>
          </a:prstGeom>
          <a:noFill/>
          <a:ln/>
        </p:spPr>
        <p:txBody>
          <a:bodyPr wrap="square" lIns="0" tIns="0" rIns="0" bIns="0" rtlCol="0" anchor="t"/>
          <a:lstStyle/>
          <a:p>
            <a:pPr marL="0" indent="0">
              <a:buNone/>
            </a:pPr>
            <a:r>
              <a:rPr lang="en-US" sz="1100" dirty="0">
                <a:solidFill>
                  <a:srgbClr val="E6EEF8"/>
                </a:solidFill>
                <a:latin typeface="Inter" pitchFamily="34" charset="0"/>
                <a:ea typeface="Inter" pitchFamily="34" charset="-122"/>
                <a:cs typeface="Inter" pitchFamily="34" charset="-120"/>
              </a:rPr>
              <a:t>Route B rejected: needs 127 units, budget is 100 (27 over). Drop a low-priority stop or split the trip.</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228600" y="228600"/>
            <a:ext cx="8686800" cy="4686300"/>
          </a:xfrm>
          <a:prstGeom prst="rect">
            <a:avLst/>
          </a:prstGeom>
          <a:ln w="9525">
            <a:solidFill>
              <a:srgbClr val="00E5FF">
                <a:alpha val="40000"/>
              </a:srgbClr>
            </a:solidFill>
            <a:prstDash val="solid"/>
          </a:ln>
        </p:spPr>
      </p:sp>
      <p:sp>
        <p:nvSpPr>
          <p:cNvPr id="3" name="Shape 1"/>
          <p:cNvSpPr/>
          <p:nvPr/>
        </p:nvSpPr>
        <p:spPr>
          <a:xfrm>
            <a:off x="228600" y="228600"/>
            <a:ext cx="228600" cy="0"/>
          </a:xfrm>
          <a:prstGeom prst="line">
            <a:avLst/>
          </a:prstGeom>
          <a:noFill/>
          <a:ln w="25400">
            <a:solidFill>
              <a:srgbClr val="00E5FF"/>
            </a:solidFill>
            <a:prstDash val="solid"/>
          </a:ln>
        </p:spPr>
      </p:sp>
      <p:sp>
        <p:nvSpPr>
          <p:cNvPr id="4" name="Shape 2"/>
          <p:cNvSpPr/>
          <p:nvPr/>
        </p:nvSpPr>
        <p:spPr>
          <a:xfrm>
            <a:off x="228600" y="228600"/>
            <a:ext cx="0" cy="228600"/>
          </a:xfrm>
          <a:prstGeom prst="line">
            <a:avLst/>
          </a:prstGeom>
          <a:noFill/>
          <a:ln w="25400">
            <a:solidFill>
              <a:srgbClr val="00E5FF"/>
            </a:solidFill>
            <a:prstDash val="solid"/>
          </a:ln>
        </p:spPr>
      </p:sp>
      <p:sp>
        <p:nvSpPr>
          <p:cNvPr id="5" name="Shape 3"/>
          <p:cNvSpPr/>
          <p:nvPr/>
        </p:nvSpPr>
        <p:spPr>
          <a:xfrm>
            <a:off x="8686800" y="228600"/>
            <a:ext cx="228600" cy="0"/>
          </a:xfrm>
          <a:prstGeom prst="line">
            <a:avLst/>
          </a:prstGeom>
          <a:noFill/>
          <a:ln w="25400">
            <a:solidFill>
              <a:srgbClr val="00E5FF"/>
            </a:solidFill>
            <a:prstDash val="solid"/>
          </a:ln>
        </p:spPr>
      </p:sp>
      <p:sp>
        <p:nvSpPr>
          <p:cNvPr id="6" name="Shape 4"/>
          <p:cNvSpPr/>
          <p:nvPr/>
        </p:nvSpPr>
        <p:spPr>
          <a:xfrm>
            <a:off x="8915400" y="228600"/>
            <a:ext cx="0" cy="228600"/>
          </a:xfrm>
          <a:prstGeom prst="line">
            <a:avLst/>
          </a:prstGeom>
          <a:noFill/>
          <a:ln w="25400">
            <a:solidFill>
              <a:srgbClr val="00E5FF"/>
            </a:solidFill>
            <a:prstDash val="solid"/>
          </a:ln>
        </p:spPr>
      </p:sp>
      <p:sp>
        <p:nvSpPr>
          <p:cNvPr id="7" name="Shape 5"/>
          <p:cNvSpPr/>
          <p:nvPr/>
        </p:nvSpPr>
        <p:spPr>
          <a:xfrm>
            <a:off x="228600" y="4914900"/>
            <a:ext cx="228600" cy="0"/>
          </a:xfrm>
          <a:prstGeom prst="line">
            <a:avLst/>
          </a:prstGeom>
          <a:noFill/>
          <a:ln w="25400">
            <a:solidFill>
              <a:srgbClr val="00E5FF"/>
            </a:solidFill>
            <a:prstDash val="solid"/>
          </a:ln>
        </p:spPr>
      </p:sp>
      <p:sp>
        <p:nvSpPr>
          <p:cNvPr id="8" name="Shape 6"/>
          <p:cNvSpPr/>
          <p:nvPr/>
        </p:nvSpPr>
        <p:spPr>
          <a:xfrm>
            <a:off x="228600" y="4686300"/>
            <a:ext cx="0" cy="228600"/>
          </a:xfrm>
          <a:prstGeom prst="line">
            <a:avLst/>
          </a:prstGeom>
          <a:noFill/>
          <a:ln w="25400">
            <a:solidFill>
              <a:srgbClr val="00E5FF"/>
            </a:solidFill>
            <a:prstDash val="solid"/>
          </a:ln>
        </p:spPr>
      </p:sp>
      <p:sp>
        <p:nvSpPr>
          <p:cNvPr id="9" name="Shape 7"/>
          <p:cNvSpPr/>
          <p:nvPr/>
        </p:nvSpPr>
        <p:spPr>
          <a:xfrm>
            <a:off x="8686800" y="4914900"/>
            <a:ext cx="228600" cy="0"/>
          </a:xfrm>
          <a:prstGeom prst="line">
            <a:avLst/>
          </a:prstGeom>
          <a:noFill/>
          <a:ln w="25400">
            <a:solidFill>
              <a:srgbClr val="00E5FF"/>
            </a:solidFill>
            <a:prstDash val="solid"/>
          </a:ln>
        </p:spPr>
      </p:sp>
      <p:sp>
        <p:nvSpPr>
          <p:cNvPr id="10" name="Shape 8"/>
          <p:cNvSpPr/>
          <p:nvPr/>
        </p:nvSpPr>
        <p:spPr>
          <a:xfrm>
            <a:off x="8915400" y="4686300"/>
            <a:ext cx="0" cy="228600"/>
          </a:xfrm>
          <a:prstGeom prst="line">
            <a:avLst/>
          </a:prstGeom>
          <a:noFill/>
          <a:ln w="25400">
            <a:solidFill>
              <a:srgbClr val="00E5FF"/>
            </a:solidFill>
            <a:prstDash val="solid"/>
          </a:ln>
        </p:spPr>
      </p:sp>
      <p:sp>
        <p:nvSpPr>
          <p:cNvPr id="11" name="Text 9"/>
          <p:cNvSpPr txBox="1"/>
          <p:nvPr/>
        </p:nvSpPr>
        <p:spPr>
          <a:xfrm>
            <a:off x="548640" y="411480"/>
            <a:ext cx="7498080" cy="457200"/>
          </a:xfrm>
          <a:prstGeom prst="rect">
            <a:avLst/>
          </a:prstGeom>
          <a:noFill/>
          <a:ln/>
        </p:spPr>
        <p:txBody>
          <a:bodyPr wrap="square" lIns="0" tIns="0" rIns="0" bIns="0" rtlCol="0" anchor="t"/>
          <a:lstStyle/>
          <a:p>
            <a:pPr marL="0" indent="0">
              <a:buNone/>
            </a:pPr>
            <a:r>
              <a:rPr lang="en-US" sz="2000" b="1" dirty="0">
                <a:solidFill>
                  <a:srgbClr val="00E5FF"/>
                </a:solidFill>
                <a:latin typeface="Orbitron" pitchFamily="34" charset="0"/>
                <a:ea typeface="Orbitron" pitchFamily="34" charset="-122"/>
                <a:cs typeface="Orbitron" pitchFamily="34" charset="-120"/>
              </a:rPr>
              <a:t>DEMO, RESULTS &amp; MISSION COMPLETE</a:t>
            </a:r>
            <a:endParaRPr lang="en-US" sz="2000" dirty="0"/>
          </a:p>
        </p:txBody>
      </p:sp>
      <p:sp>
        <p:nvSpPr>
          <p:cNvPr id="12" name="Shape 10"/>
          <p:cNvSpPr/>
          <p:nvPr/>
        </p:nvSpPr>
        <p:spPr>
          <a:xfrm>
            <a:off x="548640" y="914400"/>
            <a:ext cx="2743200" cy="0"/>
          </a:xfrm>
          <a:prstGeom prst="line">
            <a:avLst/>
          </a:prstGeom>
          <a:noFill/>
          <a:ln w="19050">
            <a:solidFill>
              <a:srgbClr val="00E5FF"/>
            </a:solidFill>
            <a:prstDash val="dash"/>
          </a:ln>
        </p:spPr>
      </p:sp>
      <p:sp>
        <p:nvSpPr>
          <p:cNvPr id="13" name="Text 11"/>
          <p:cNvSpPr txBox="1"/>
          <p:nvPr/>
        </p:nvSpPr>
        <p:spPr>
          <a:xfrm>
            <a:off x="5577840" y="4590288"/>
            <a:ext cx="731520" cy="182880"/>
          </a:xfrm>
          <a:prstGeom prst="rect">
            <a:avLst/>
          </a:prstGeom>
          <a:noFill/>
          <a:ln/>
        </p:spPr>
        <p:txBody>
          <a:bodyPr wrap="square" lIns="0" tIns="0" rIns="0" bIns="0" rtlCol="0" anchor="t"/>
          <a:lstStyle/>
          <a:p>
            <a:pPr marL="0" indent="0">
              <a:buNone/>
            </a:pPr>
            <a:r>
              <a:rPr lang="en-US" sz="700" dirty="0">
                <a:solidFill>
                  <a:srgbClr val="7F8CA8"/>
                </a:solidFill>
                <a:latin typeface="JetBrains Mono" pitchFamily="34" charset="0"/>
                <a:ea typeface="JetBrains Mono" pitchFamily="34" charset="-122"/>
                <a:cs typeface="JetBrains Mono" pitchFamily="34" charset="-120"/>
              </a:rPr>
              <a:t>BATTERY</a:t>
            </a:r>
            <a:endParaRPr lang="en-US" sz="700" dirty="0"/>
          </a:p>
        </p:txBody>
      </p:sp>
      <p:sp>
        <p:nvSpPr>
          <p:cNvPr id="14" name="Shape 12"/>
          <p:cNvSpPr/>
          <p:nvPr/>
        </p:nvSpPr>
        <p:spPr>
          <a:xfrm>
            <a:off x="6217920" y="4608576"/>
            <a:ext cx="2011680" cy="128016"/>
          </a:xfrm>
          <a:prstGeom prst="rect">
            <a:avLst/>
          </a:prstGeom>
          <a:ln w="9525">
            <a:solidFill>
              <a:srgbClr val="7F8CA8"/>
            </a:solidFill>
            <a:prstDash val="solid"/>
          </a:ln>
        </p:spPr>
      </p:sp>
      <p:sp>
        <p:nvSpPr>
          <p:cNvPr id="15" name="Text 13"/>
          <p:cNvSpPr txBox="1"/>
          <p:nvPr/>
        </p:nvSpPr>
        <p:spPr>
          <a:xfrm>
            <a:off x="8275320" y="4590288"/>
            <a:ext cx="457200" cy="182880"/>
          </a:xfrm>
          <a:prstGeom prst="rect">
            <a:avLst/>
          </a:prstGeom>
          <a:noFill/>
          <a:ln/>
        </p:spPr>
        <p:txBody>
          <a:bodyPr wrap="square" lIns="0" tIns="0" rIns="0" bIns="0" rtlCol="0" anchor="t"/>
          <a:lstStyle/>
          <a:p>
            <a:pPr marL="0" indent="0">
              <a:buNone/>
            </a:pPr>
            <a:r>
              <a:rPr lang="en-US" sz="700" dirty="0">
                <a:solidFill>
                  <a:srgbClr val="E6EEF8"/>
                </a:solidFill>
                <a:latin typeface="JetBrains Mono" pitchFamily="34" charset="0"/>
                <a:ea typeface="JetBrains Mono" pitchFamily="34" charset="-122"/>
                <a:cs typeface="JetBrains Mono" pitchFamily="34" charset="-120"/>
              </a:rPr>
              <a:t>0%</a:t>
            </a:r>
            <a:endParaRPr lang="en-US" sz="700" dirty="0"/>
          </a:p>
        </p:txBody>
      </p:sp>
      <p:sp>
        <p:nvSpPr>
          <p:cNvPr id="16" name="Shape 14"/>
          <p:cNvSpPr/>
          <p:nvPr/>
        </p:nvSpPr>
        <p:spPr>
          <a:xfrm>
            <a:off x="548640" y="4572000"/>
            <a:ext cx="274320" cy="237744"/>
          </a:xfrm>
          <a:prstGeom prst="hexagon">
            <a:avLst/>
          </a:prstGeom>
          <a:solidFill>
            <a:srgbClr val="141B33"/>
          </a:solidFill>
          <a:ln w="12700">
            <a:solidFill>
              <a:srgbClr val="00E5FF"/>
            </a:solidFill>
            <a:prstDash val="solid"/>
          </a:ln>
        </p:spPr>
      </p:sp>
      <p:sp>
        <p:nvSpPr>
          <p:cNvPr id="17" name="Text 15"/>
          <p:cNvSpPr txBox="1"/>
          <p:nvPr/>
        </p:nvSpPr>
        <p:spPr>
          <a:xfrm>
            <a:off x="548640" y="4572000"/>
            <a:ext cx="274320" cy="237744"/>
          </a:xfrm>
          <a:prstGeom prst="rect">
            <a:avLst/>
          </a:prstGeom>
          <a:noFill/>
          <a:ln/>
        </p:spPr>
        <p:txBody>
          <a:bodyPr wrap="square" lIns="0" tIns="0" rIns="0" bIns="0" rtlCol="0" anchor="ctr"/>
          <a:lstStyle/>
          <a:p>
            <a:pPr marL="0" indent="0" algn="ctr">
              <a:buNone/>
            </a:pPr>
            <a:r>
              <a:rPr lang="en-US" sz="900" b="1" dirty="0">
                <a:solidFill>
                  <a:srgbClr val="00E5FF"/>
                </a:solidFill>
                <a:latin typeface="JetBrains Mono" pitchFamily="34" charset="0"/>
                <a:ea typeface="JetBrains Mono" pitchFamily="34" charset="-122"/>
                <a:cs typeface="JetBrains Mono" pitchFamily="34" charset="-120"/>
              </a:rPr>
              <a:t>7</a:t>
            </a:r>
            <a:endParaRPr lang="en-US" sz="900" dirty="0"/>
          </a:p>
        </p:txBody>
      </p:sp>
      <p:sp>
        <p:nvSpPr>
          <p:cNvPr id="19" name="Shape 16"/>
          <p:cNvSpPr/>
          <p:nvPr/>
        </p:nvSpPr>
        <p:spPr>
          <a:xfrm>
            <a:off x="548640" y="1097280"/>
            <a:ext cx="4754880" cy="2331720"/>
          </a:xfrm>
          <a:prstGeom prst="roundRect">
            <a:avLst>
              <a:gd name="adj" fmla="val 3137"/>
            </a:avLst>
          </a:prstGeom>
          <a:solidFill>
            <a:srgbClr val="141B33"/>
          </a:solidFill>
          <a:ln w="12700">
            <a:solidFill>
              <a:srgbClr val="00E5FF"/>
            </a:solidFill>
            <a:prstDash val="solid"/>
          </a:ln>
        </p:spPr>
      </p:sp>
      <p:sp>
        <p:nvSpPr>
          <p:cNvPr id="20" name="Text 17"/>
          <p:cNvSpPr txBox="1"/>
          <p:nvPr/>
        </p:nvSpPr>
        <p:spPr>
          <a:xfrm>
            <a:off x="548640" y="1097280"/>
            <a:ext cx="4754880" cy="2331720"/>
          </a:xfrm>
          <a:prstGeom prst="rect">
            <a:avLst/>
          </a:prstGeom>
          <a:noFill/>
          <a:ln/>
        </p:spPr>
        <p:txBody>
          <a:bodyPr wrap="square" lIns="0" tIns="0" rIns="0" bIns="0" rtlCol="0" anchor="ctr"/>
          <a:lstStyle/>
          <a:p>
            <a:pPr marL="0" indent="0" algn="ctr">
              <a:buNone/>
            </a:pPr>
            <a:r>
              <a:rPr lang="en-US" sz="1100" dirty="0">
                <a:solidFill>
                  <a:srgbClr val="7F8CA8"/>
                </a:solidFill>
                <a:latin typeface="Inter" pitchFamily="34" charset="0"/>
                <a:ea typeface="Inter" pitchFamily="34" charset="-122"/>
                <a:cs typeface="Inter" pitchFamily="34" charset="-120"/>
              </a:rPr>
              <a:t>[Screenshot: Leaflet map with glowing route]</a:t>
            </a:r>
            <a:endParaRPr lang="en-US" sz="1100" dirty="0"/>
          </a:p>
        </p:txBody>
      </p:sp>
      <p:sp>
        <p:nvSpPr>
          <p:cNvPr id="21" name="Shape 18"/>
          <p:cNvSpPr/>
          <p:nvPr/>
        </p:nvSpPr>
        <p:spPr>
          <a:xfrm>
            <a:off x="5486400" y="1097280"/>
            <a:ext cx="3108960" cy="2331720"/>
          </a:xfrm>
          <a:prstGeom prst="roundRect">
            <a:avLst>
              <a:gd name="adj" fmla="val 3137"/>
            </a:avLst>
          </a:prstGeom>
          <a:solidFill>
            <a:srgbClr val="141B33"/>
          </a:solidFill>
          <a:ln w="12700">
            <a:solidFill>
              <a:srgbClr val="39FF88"/>
            </a:solidFill>
            <a:prstDash val="solid"/>
          </a:ln>
        </p:spPr>
      </p:sp>
      <p:sp>
        <p:nvSpPr>
          <p:cNvPr id="22" name="Text 19"/>
          <p:cNvSpPr txBox="1"/>
          <p:nvPr/>
        </p:nvSpPr>
        <p:spPr>
          <a:xfrm>
            <a:off x="5669280" y="1234440"/>
            <a:ext cx="2834640" cy="1371600"/>
          </a:xfrm>
          <a:prstGeom prst="rect">
            <a:avLst/>
          </a:prstGeom>
          <a:noFill/>
          <a:ln/>
        </p:spPr>
        <p:txBody>
          <a:bodyPr wrap="square" lIns="0" tIns="0" rIns="0" bIns="0" rtlCol="0" anchor="t"/>
          <a:lstStyle/>
          <a:p>
            <a:pPr marL="0" indent="0">
              <a:buNone/>
            </a:pPr>
            <a:r>
              <a:rPr lang="en-US" sz="950" dirty="0">
                <a:solidFill>
                  <a:srgbClr val="39FF88"/>
                </a:solidFill>
                <a:latin typeface="JetBrains Mono" pitchFamily="34" charset="0"/>
                <a:ea typeface="JetBrains Mono" pitchFamily="34" charset="-122"/>
                <a:cs typeface="JetBrains Mono" pitchFamily="34" charset="-120"/>
              </a:rPr>
              <a:t>Visit order: D→A→B→C→D</a:t>
            </a:r>
            <a:endParaRPr lang="en-US" sz="950" dirty="0"/>
          </a:p>
          <a:p>
            <a:pPr marL="0" indent="0">
              <a:buNone/>
            </a:pPr>
            <a:r>
              <a:rPr lang="en-US" sz="950" dirty="0">
                <a:solidFill>
                  <a:srgbClr val="39FF88"/>
                </a:solidFill>
                <a:latin typeface="JetBrains Mono" pitchFamily="34" charset="0"/>
                <a:ea typeface="JetBrains Mono" pitchFamily="34" charset="-122"/>
                <a:cs typeface="JetBrains Mono" pitchFamily="34" charset="-120"/>
              </a:rPr>
              <a:t>Battery used: 82%</a:t>
            </a:r>
            <a:endParaRPr lang="en-US" sz="950" dirty="0"/>
          </a:p>
          <a:p>
            <a:pPr marL="0" indent="0">
              <a:buNone/>
            </a:pPr>
            <a:r>
              <a:rPr lang="en-US" sz="950" dirty="0">
                <a:solidFill>
                  <a:srgbClr val="39FF88"/>
                </a:solidFill>
                <a:latin typeface="JetBrains Mono" pitchFamily="34" charset="0"/>
                <a:ea typeface="JetBrains Mono" pitchFamily="34" charset="-122"/>
                <a:cs typeface="JetBrains Mono" pitchFamily="34" charset="-120"/>
              </a:rPr>
              <a:t>Status: ACCEPTED</a:t>
            </a:r>
            <a:endParaRPr lang="en-US" sz="950" dirty="0"/>
          </a:p>
          <a:p>
            <a:pPr marL="0" indent="0">
              <a:buNone/>
            </a:pPr>
            <a:r>
              <a:rPr lang="en-US" sz="950" dirty="0">
                <a:solidFill>
                  <a:srgbClr val="39FF88"/>
                </a:solidFill>
                <a:latin typeface="JetBrains Mono" pitchFamily="34" charset="0"/>
                <a:ea typeface="JetBrains Mono" pitchFamily="34" charset="-122"/>
                <a:cs typeface="JetBrains Mono" pitchFamily="34" charset="-120"/>
              </a:rPr>
              <a:t>Alert: Route B rejected (127%)</a:t>
            </a:r>
            <a:endParaRPr lang="en-US" sz="950" dirty="0"/>
          </a:p>
        </p:txBody>
      </p:sp>
      <p:sp>
        <p:nvSpPr>
          <p:cNvPr id="23" name="Text 20"/>
          <p:cNvSpPr txBox="1"/>
          <p:nvPr/>
        </p:nvSpPr>
        <p:spPr>
          <a:xfrm>
            <a:off x="5669280" y="2606040"/>
            <a:ext cx="2834640" cy="731520"/>
          </a:xfrm>
          <a:prstGeom prst="rect">
            <a:avLst/>
          </a:prstGeom>
          <a:noFill/>
          <a:ln/>
        </p:spPr>
        <p:txBody>
          <a:bodyPr wrap="square" lIns="0" tIns="0" rIns="0" bIns="0" rtlCol="0" anchor="t"/>
          <a:lstStyle/>
          <a:p>
            <a:pPr marL="0" indent="0">
              <a:buNone/>
            </a:pPr>
            <a:r>
              <a:rPr lang="en-US" sz="950" dirty="0">
                <a:solidFill>
                  <a:srgbClr val="FFB300"/>
                </a:solidFill>
                <a:latin typeface="JetBrains Mono" pitchFamily="34" charset="0"/>
                <a:ea typeface="JetBrains Mono" pitchFamily="34" charset="-122"/>
                <a:cs typeface="JetBrains Mono" pitchFamily="34" charset="-120"/>
              </a:rPr>
              <a:t>Cost saved: [__]%</a:t>
            </a:r>
            <a:endParaRPr lang="en-US" sz="950" dirty="0"/>
          </a:p>
          <a:p>
            <a:pPr marL="0" indent="0">
              <a:buNone/>
            </a:pPr>
            <a:r>
              <a:rPr lang="en-US" sz="950" dirty="0">
                <a:solidFill>
                  <a:srgbClr val="FFB300"/>
                </a:solidFill>
                <a:latin typeface="JetBrains Mono" pitchFamily="34" charset="0"/>
                <a:ea typeface="JetBrains Mono" pitchFamily="34" charset="-122"/>
                <a:cs typeface="JetBrains Mono" pitchFamily="34" charset="-120"/>
              </a:rPr>
              <a:t>Rejected: [__]%</a:t>
            </a:r>
            <a:endParaRPr lang="en-US" sz="950" dirty="0"/>
          </a:p>
          <a:p>
            <a:pPr marL="0" indent="0">
              <a:buNone/>
            </a:pPr>
            <a:r>
              <a:rPr lang="en-US" sz="950" dirty="0">
                <a:solidFill>
                  <a:srgbClr val="FFB300"/>
                </a:solidFill>
                <a:latin typeface="JetBrains Mono" pitchFamily="34" charset="0"/>
                <a:ea typeface="JetBrains Mono" pitchFamily="34" charset="-122"/>
                <a:cs typeface="JetBrains Mono" pitchFamily="34" charset="-120"/>
              </a:rPr>
              <a:t>Runtime: [__] ms</a:t>
            </a:r>
            <a:endParaRPr lang="en-US" sz="950" dirty="0"/>
          </a:p>
        </p:txBody>
      </p:sp>
      <p:sp>
        <p:nvSpPr>
          <p:cNvPr id="24" name="Text 21"/>
          <p:cNvSpPr txBox="1"/>
          <p:nvPr/>
        </p:nvSpPr>
        <p:spPr>
          <a:xfrm>
            <a:off x="548640" y="3611880"/>
            <a:ext cx="8046720" cy="228600"/>
          </a:xfrm>
          <a:prstGeom prst="rect">
            <a:avLst/>
          </a:prstGeom>
          <a:noFill/>
          <a:ln/>
        </p:spPr>
        <p:txBody>
          <a:bodyPr wrap="square" lIns="0" tIns="0" rIns="0" bIns="0" rtlCol="0" anchor="t"/>
          <a:lstStyle/>
          <a:p>
            <a:pPr marL="0" indent="0">
              <a:buNone/>
            </a:pPr>
            <a:r>
              <a:rPr lang="en-US" sz="1000" dirty="0">
                <a:solidFill>
                  <a:srgbClr val="7F8CA8"/>
                </a:solidFill>
                <a:latin typeface="Inter" pitchFamily="34" charset="0"/>
                <a:ea typeface="Inter" pitchFamily="34" charset="-122"/>
                <a:cs typeface="Inter" pitchFamily="34" charset="-120"/>
              </a:rPr>
              <a:t>Limits: wind · payload weight · charging stops</a:t>
            </a:r>
            <a:endParaRPr lang="en-US" sz="1000" dirty="0"/>
          </a:p>
        </p:txBody>
      </p:sp>
      <p:sp>
        <p:nvSpPr>
          <p:cNvPr id="25" name="Text 22"/>
          <p:cNvSpPr txBox="1"/>
          <p:nvPr/>
        </p:nvSpPr>
        <p:spPr>
          <a:xfrm>
            <a:off x="548640" y="3886200"/>
            <a:ext cx="8046720" cy="228600"/>
          </a:xfrm>
          <a:prstGeom prst="rect">
            <a:avLst/>
          </a:prstGeom>
          <a:noFill/>
          <a:ln/>
        </p:spPr>
        <p:txBody>
          <a:bodyPr wrap="square" lIns="0" tIns="0" rIns="0" bIns="0" rtlCol="0" anchor="t"/>
          <a:lstStyle/>
          <a:p>
            <a:pPr marL="0" indent="0">
              <a:buNone/>
            </a:pPr>
            <a:r>
              <a:rPr lang="en-US" sz="1000" dirty="0">
                <a:solidFill>
                  <a:srgbClr val="E6EEF8"/>
                </a:solidFill>
                <a:latin typeface="Inter" pitchFamily="34" charset="0"/>
                <a:ea typeface="Inter" pitchFamily="34" charset="-122"/>
                <a:cs typeface="Inter" pitchFamily="34" charset="-120"/>
              </a:rPr>
              <a:t>Next: multi-drone fleets · no-fly zones · A* · real-time rerouting</a:t>
            </a:r>
            <a:endParaRPr lang="en-US" sz="1000" dirty="0"/>
          </a:p>
        </p:txBody>
      </p:sp>
      <p:sp>
        <p:nvSpPr>
          <p:cNvPr id="26" name="Text 23"/>
          <p:cNvSpPr txBox="1"/>
          <p:nvPr/>
        </p:nvSpPr>
        <p:spPr>
          <a:xfrm>
            <a:off x="548640" y="4206240"/>
            <a:ext cx="5486400" cy="274320"/>
          </a:xfrm>
          <a:prstGeom prst="rect">
            <a:avLst/>
          </a:prstGeom>
          <a:noFill/>
          <a:ln/>
        </p:spPr>
        <p:txBody>
          <a:bodyPr wrap="square" lIns="0" tIns="0" rIns="0" bIns="0" rtlCol="0" anchor="t"/>
          <a:lstStyle/>
          <a:p>
            <a:pPr marL="0" indent="0">
              <a:buNone/>
            </a:pPr>
            <a:r>
              <a:rPr lang="en-US" sz="1400" b="1" dirty="0">
                <a:solidFill>
                  <a:srgbClr val="00E5FF"/>
                </a:solidFill>
                <a:latin typeface="Orbitron" pitchFamily="34" charset="0"/>
                <a:ea typeface="Orbitron" pitchFamily="34" charset="-122"/>
                <a:cs typeface="Orbitron" pitchFamily="34" charset="-120"/>
              </a:rPr>
              <a:t>MISSION COMPLETE  ·  Q&amp;A</a:t>
            </a:r>
            <a:endParaRPr lang="en-US" sz="1400" dirty="0"/>
          </a:p>
        </p:txBody>
      </p:sp>
      <p:pic>
        <p:nvPicPr>
          <p:cNvPr id="27" name="Picture 26">
            <a:extLst>
              <a:ext uri="{FF2B5EF4-FFF2-40B4-BE49-F238E27FC236}">
                <a16:creationId xmlns:a16="http://schemas.microsoft.com/office/drawing/2014/main" id="{909D2016-7436-41C7-E9FA-7B020EF02DF4}"/>
              </a:ext>
            </a:extLst>
          </p:cNvPr>
          <p:cNvPicPr>
            <a:picLocks noChangeAspect="1"/>
          </p:cNvPicPr>
          <p:nvPr/>
        </p:nvPicPr>
        <p:blipFill>
          <a:blip r:embed="rId3"/>
          <a:stretch>
            <a:fillRect/>
          </a:stretch>
        </p:blipFill>
        <p:spPr>
          <a:xfrm>
            <a:off x="394447" y="1051561"/>
            <a:ext cx="4909073" cy="245059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1010</Words>
  <Application>Microsoft Office PowerPoint</Application>
  <PresentationFormat>On-screen Show (16:9)</PresentationFormat>
  <Paragraphs>137</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Inter</vt:lpstr>
      <vt:lpstr>JetBrains Mono</vt:lpstr>
      <vt:lpstr>Orbitron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Drone Delivery Path Planner</dc:title>
  <dc:subject>PptxGenJS Presentation</dc:subject>
  <dc:creator>PptxGenJS</dc:creator>
  <cp:lastModifiedBy>vikki posham</cp:lastModifiedBy>
  <cp:revision>2</cp:revision>
  <dcterms:created xsi:type="dcterms:W3CDTF">2026-10-03T04:58:23Z</dcterms:created>
  <dcterms:modified xsi:type="dcterms:W3CDTF">2026-10-03T05:14:41Z</dcterms:modified>
</cp:coreProperties>
</file>